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8" r:id="rId2"/>
    <p:sldId id="263" r:id="rId3"/>
    <p:sldId id="264" r:id="rId4"/>
    <p:sldId id="262" r:id="rId5"/>
    <p:sldId id="267" r:id="rId6"/>
    <p:sldId id="260" r:id="rId7"/>
    <p:sldId id="265" r:id="rId8"/>
    <p:sldId id="259" r:id="rId9"/>
    <p:sldId id="261" r:id="rId10"/>
    <p:sldId id="266" r:id="rId11"/>
    <p:sldId id="25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9" autoAdjust="0"/>
    <p:restoredTop sz="94660"/>
  </p:normalViewPr>
  <p:slideViewPr>
    <p:cSldViewPr snapToGrid="0">
      <p:cViewPr>
        <p:scale>
          <a:sx n="69" d="100"/>
          <a:sy n="69" d="100"/>
        </p:scale>
        <p:origin x="23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479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2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0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8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4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1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4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5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7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9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96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479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171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94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95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76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C98E4C9-369B-4CFA-9E12-AEC48C3A250B}" type="datetimeFigureOut">
              <a:rPr lang="en-US" smtClean="0"/>
              <a:t>12/4/2018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056A9-751D-4462-B5C0-C0FF39222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1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census.gov/programs-surveys/cps/tables" TargetMode="External"/><Relationship Id="rId2" Type="http://schemas.openxmlformats.org/officeDocument/2006/relationships/hyperlink" Target="https://www.ers.usda.gov/DATA-PRODUCT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Columbia-Intro-Data-Sci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7385" y="-1091484"/>
            <a:ext cx="9504310" cy="7696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10700" dirty="0" smtClean="0"/>
              <a:t>Data </a:t>
            </a:r>
            <a:r>
              <a:rPr lang="en-US" sz="10700" dirty="0"/>
              <a:t>Analysis, </a:t>
            </a:r>
            <a:r>
              <a:rPr lang="en-US" sz="89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Gradient Descent, </a:t>
            </a:r>
            <a:r>
              <a:rPr lang="en-US" sz="7300" dirty="0">
                <a:solidFill>
                  <a:srgbClr val="FFFF00"/>
                </a:solidFill>
              </a:rPr>
              <a:t>and Stochastic </a:t>
            </a:r>
            <a:r>
              <a:rPr lang="en-US" sz="7300" dirty="0" smtClean="0">
                <a:solidFill>
                  <a:srgbClr val="FFFF00"/>
                </a:solidFill>
              </a:rPr>
              <a:t/>
            </a:r>
            <a:br>
              <a:rPr lang="en-US" sz="7300" dirty="0" smtClean="0">
                <a:solidFill>
                  <a:srgbClr val="FFFF00"/>
                </a:solidFill>
              </a:rPr>
            </a:br>
            <a:r>
              <a:rPr lang="en-US" sz="6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Gradient </a:t>
            </a:r>
            <a:r>
              <a:rPr lang="en-US" sz="6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Descent </a:t>
            </a:r>
            <a:r>
              <a:rPr lang="en-US" sz="6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: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5300" dirty="0" smtClean="0">
                <a:solidFill>
                  <a:srgbClr val="FF0000"/>
                </a:solidFill>
              </a:rPr>
              <a:t>A Case Study</a:t>
            </a:r>
            <a:r>
              <a:rPr lang="en-US" sz="8000" dirty="0"/>
              <a:t/>
            </a:r>
            <a:br>
              <a:rPr lang="en-US" sz="8000" dirty="0"/>
            </a:b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869040" y="5429250"/>
            <a:ext cx="8825658" cy="584916"/>
          </a:xfrm>
        </p:spPr>
        <p:txBody>
          <a:bodyPr>
            <a:noAutofit/>
          </a:bodyPr>
          <a:lstStyle/>
          <a:p>
            <a:r>
              <a:rPr lang="en-US" sz="1800" dirty="0" err="1" smtClean="0">
                <a:solidFill>
                  <a:schemeClr val="tx1"/>
                </a:solidFill>
              </a:rPr>
              <a:t>Saumya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</a:rPr>
              <a:t>puthenveettil</a:t>
            </a:r>
            <a:endParaRPr lang="en-US" sz="1800" dirty="0" smtClean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</a:rPr>
              <a:t>Fall 2018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85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049853" cy="1400530"/>
          </a:xfrm>
        </p:spPr>
        <p:txBody>
          <a:bodyPr/>
          <a:lstStyle/>
          <a:p>
            <a:r>
              <a:rPr lang="en-US" dirty="0" smtClean="0"/>
              <a:t>	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276350"/>
            <a:ext cx="8946541" cy="4972049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/>
              <a:t>Collect data about 50 states + District of Columbia for Median Household Income, Median Educational Attainment (At least a Bachelor’s Degree) between 2012 and 2016.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/>
              <a:t>C</a:t>
            </a:r>
            <a:r>
              <a:rPr lang="en-US" sz="3600" dirty="0" smtClean="0"/>
              <a:t>reate Scatter plot of 50 states + Washington D.C by Median Household Income and Educational Attainment.  Label the states by regions. REGION 0 : Northeast, REGION 1:South, REGION 2: Midwest, REGION 3: West.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/>
              <a:t>Create scatter plot that highlights regions and find the centroid of the clusters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/>
              <a:t>Standardize the data and classify the regions using K Nearest Neighbor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/>
              <a:t>Create a linear regression line using Gradient Descent and Stochastic Gradient Descent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18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/>
              <a:t>	SCATTER PLOTS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199"/>
            <a:ext cx="5922193" cy="4761731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192" y="838199"/>
            <a:ext cx="6269807" cy="476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82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/>
              <a:t>	K- Nearest Neighbor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182" y="1055390"/>
            <a:ext cx="8946541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X = EDUCATION, INCOME</a:t>
            </a:r>
          </a:p>
          <a:p>
            <a:r>
              <a:rPr lang="en-US" dirty="0" smtClean="0"/>
              <a:t>Y = REGION</a:t>
            </a:r>
          </a:p>
          <a:p>
            <a:endParaRPr lang="en-US" dirty="0"/>
          </a:p>
          <a:p>
            <a:r>
              <a:rPr lang="en-US" dirty="0" smtClean="0"/>
              <a:t>Supervised learning</a:t>
            </a:r>
          </a:p>
          <a:p>
            <a:r>
              <a:rPr lang="en-US" dirty="0" smtClean="0"/>
              <a:t>K Nearest neighbor uses the majority vote to assign a label</a:t>
            </a:r>
          </a:p>
          <a:p>
            <a:r>
              <a:rPr lang="en-US" dirty="0" smtClean="0"/>
              <a:t>Use some kind of distance metric to calculate the distance between two points. Most commonly, Euclidean distance: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Take the 1-Nearest neighbor and assign this class label</a:t>
            </a:r>
          </a:p>
          <a:p>
            <a:r>
              <a:rPr lang="en-US" dirty="0" smtClean="0"/>
              <a:t>Test size is 20% of Data set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18" y="3338945"/>
            <a:ext cx="6097300" cy="102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10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K-NN Confusion Matrix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946" y="1692419"/>
            <a:ext cx="3377690" cy="25193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525433" y="4497376"/>
            <a:ext cx="6683240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Y True = [3, 0, 0, 2, 2, 3, 3, 2, 1, 2, 1]</a:t>
            </a:r>
          </a:p>
          <a:p>
            <a:r>
              <a:rPr lang="en-US" sz="2800" dirty="0" smtClean="0"/>
              <a:t>Prediction= [3</a:t>
            </a:r>
            <a:r>
              <a:rPr lang="en-US" sz="2800" dirty="0"/>
              <a:t>, 3, 1, 2, 0, 3, 3, 2, 1, 0, 1</a:t>
            </a:r>
            <a:r>
              <a:rPr lang="en-US" sz="2800" dirty="0" smtClean="0"/>
              <a:t>]</a:t>
            </a:r>
          </a:p>
          <a:p>
            <a:endParaRPr lang="en-US" sz="2800" dirty="0"/>
          </a:p>
          <a:p>
            <a:r>
              <a:rPr lang="en-US" sz="2800" dirty="0" smtClean="0"/>
              <a:t>64% Classification Accuracy</a:t>
            </a:r>
            <a:endParaRPr lang="en-US" sz="2800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309" y="1209554"/>
            <a:ext cx="5150124" cy="4540081"/>
          </a:xfrm>
        </p:spPr>
      </p:pic>
    </p:spTree>
    <p:extLst>
      <p:ext uri="{BB962C8B-B14F-4D97-AF65-F5344CB8AC3E}">
        <p14:creationId xmlns:p14="http://schemas.microsoft.com/office/powerpoint/2010/main" val="243745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1055927" cy="1303867"/>
          </a:xfrm>
        </p:spPr>
        <p:txBody>
          <a:bodyPr/>
          <a:lstStyle/>
          <a:p>
            <a:r>
              <a:rPr lang="en-US" dirty="0" smtClean="0"/>
              <a:t>	Linear Regression with Gradient </a:t>
            </a:r>
            <a:r>
              <a:rPr lang="en-US" dirty="0" smtClean="0"/>
              <a:t>Descent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4655" y="706582"/>
                <a:ext cx="8946541" cy="586201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X = Education</a:t>
                </a:r>
              </a:p>
              <a:p>
                <a:pPr marL="0" indent="0">
                  <a:buNone/>
                </a:pPr>
                <a:r>
                  <a:rPr lang="en-US" dirty="0" smtClean="0"/>
                  <a:t>Y = Income</a:t>
                </a: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/>
                  <a:t>Optimization of parameters to get the best fit line.  Keep a constant Learning Rate.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/>
                  <a:t>Goal is to minimize the cost function J, or the Mean Squared Error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dirty="0" smtClean="0"/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32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e>
                    </m:nary>
                  </m:oMath>
                </a14:m>
                <a:endParaRPr lang="en-US" sz="32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 sz="32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2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3200" dirty="0" smtClean="0"/>
                  <a:t> </a:t>
                </a:r>
                <a:r>
                  <a:rPr lang="en-US" sz="32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200" dirty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32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sz="3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endParaRPr lang="en-US" sz="3200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4655" y="706582"/>
                <a:ext cx="8946541" cy="5862011"/>
              </a:xfrm>
              <a:blipFill rotWithShape="0">
                <a:blip r:embed="rId2"/>
                <a:stretch>
                  <a:fillRect l="-886" t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44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/>
              <a:t>	Gradient Descent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35404" y="6054436"/>
            <a:ext cx="478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R^2 SCORE = .49</a:t>
            </a:r>
          </a:p>
          <a:p>
            <a:r>
              <a:rPr lang="en-US" b="1" dirty="0" smtClean="0"/>
              <a:t>RESIDUAL SUM OF SQUARES = 2.02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12619" y="6017707"/>
            <a:ext cx="313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LEARNING RATE = .0001</a:t>
            </a:r>
          </a:p>
          <a:p>
            <a:r>
              <a:rPr lang="en-US" b="1" dirty="0" smtClean="0"/>
              <a:t>ITERATIONS = 50,000</a:t>
            </a:r>
            <a:endParaRPr lang="en-US" b="1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9" y="828603"/>
            <a:ext cx="5855295" cy="5031869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404" y="828603"/>
            <a:ext cx="5852172" cy="503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0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601196" cy="1303867"/>
          </a:xfrm>
        </p:spPr>
        <p:txBody>
          <a:bodyPr/>
          <a:lstStyle/>
          <a:p>
            <a:r>
              <a:rPr lang="en-US" dirty="0" smtClean="0"/>
              <a:t>	STOCHASTIC GRADIENT DESCENT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349" y="1152372"/>
            <a:ext cx="8946541" cy="4195481"/>
          </a:xfrm>
        </p:spPr>
        <p:txBody>
          <a:bodyPr/>
          <a:lstStyle/>
          <a:p>
            <a:r>
              <a:rPr lang="en-US" dirty="0" smtClean="0"/>
              <a:t>Same procedure as before except first randomly shuffle the data set</a:t>
            </a:r>
          </a:p>
          <a:p>
            <a:r>
              <a:rPr lang="en-US" dirty="0" smtClean="0"/>
              <a:t>In this case each iteration calculates the gradient based on a randomly chosen sample, so batch size = 1.</a:t>
            </a:r>
          </a:p>
          <a:p>
            <a:r>
              <a:rPr lang="en-US" dirty="0" smtClean="0"/>
              <a:t>Remove noise from the cost curve</a:t>
            </a:r>
          </a:p>
        </p:txBody>
      </p:sp>
    </p:spTree>
    <p:extLst>
      <p:ext uri="{BB962C8B-B14F-4D97-AF65-F5344CB8AC3E}">
        <p14:creationId xmlns:p14="http://schemas.microsoft.com/office/powerpoint/2010/main" val="337406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601196" cy="1303867"/>
          </a:xfrm>
        </p:spPr>
        <p:txBody>
          <a:bodyPr/>
          <a:lstStyle/>
          <a:p>
            <a:r>
              <a:rPr lang="en-US" dirty="0" smtClean="0"/>
              <a:t>	Stochastic </a:t>
            </a:r>
            <a:r>
              <a:rPr lang="en-US" dirty="0" smtClean="0"/>
              <a:t>Gradient Descent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035404" y="6054436"/>
            <a:ext cx="4784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R^2 SCORE = .39</a:t>
            </a:r>
          </a:p>
          <a:p>
            <a:r>
              <a:rPr lang="en-US" b="1" dirty="0" smtClean="0"/>
              <a:t>RESIDUAL SUM OF SQUARES = 1.75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71055" y="6054435"/>
            <a:ext cx="3131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LEARNING RATE = .0001</a:t>
            </a:r>
          </a:p>
          <a:p>
            <a:r>
              <a:rPr lang="en-US" b="1" dirty="0" smtClean="0"/>
              <a:t>ITERATIONS = 500,000</a:t>
            </a:r>
            <a:endParaRPr lang="en-US" b="1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110" y="999676"/>
            <a:ext cx="5818908" cy="48330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8" y="999676"/>
            <a:ext cx="5852172" cy="46668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5030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/>
              <a:t>	CONCLUSION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K-NN Classifier can predict what region you are in based on median income and educational attainment with a 64 % accuracy.</a:t>
            </a:r>
          </a:p>
          <a:p>
            <a:r>
              <a:rPr lang="en-US" dirty="0" smtClean="0"/>
              <a:t>A linear regression model was used to predict median household income level based on educational attainment with a R^2 score of .49</a:t>
            </a:r>
          </a:p>
          <a:p>
            <a:r>
              <a:rPr lang="en-US" dirty="0" smtClean="0"/>
              <a:t>Gradient Descent’s cost curve converges quickly while Stochastic Gradient Descent’s cost curve fluctuates.</a:t>
            </a:r>
          </a:p>
          <a:p>
            <a:r>
              <a:rPr lang="en-US" dirty="0" smtClean="0"/>
              <a:t>Gradient Descent and K-NN are computationally expensive for larger data 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03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385563"/>
            <a:ext cx="9144000" cy="1204645"/>
          </a:xfrm>
        </p:spPr>
        <p:txBody>
          <a:bodyPr/>
          <a:lstStyle/>
          <a:p>
            <a:r>
              <a:rPr lang="en-US" sz="4200" dirty="0" smtClean="0"/>
              <a:t>	REFERENCES</a:t>
            </a:r>
            <a:endParaRPr lang="en-US" sz="42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95701" y="2001690"/>
            <a:ext cx="8825659" cy="2875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tx1"/>
                </a:solidFill>
              </a:rPr>
              <a:t>1) </a:t>
            </a:r>
            <a:r>
              <a:rPr lang="en-US" sz="2400" dirty="0" smtClean="0">
                <a:solidFill>
                  <a:schemeClr val="tx1"/>
                </a:solidFill>
                <a:hlinkClick r:id="rId2"/>
              </a:rPr>
              <a:t>HTTPS://WWW.ERS.USDA.GOV/DATA-PRODUCTS</a:t>
            </a:r>
            <a:r>
              <a:rPr lang="en-US" sz="2400" dirty="0" smtClean="0">
                <a:solidFill>
                  <a:schemeClr val="tx1"/>
                </a:solidFill>
              </a:rPr>
              <a:t>    National Education Data up to 2016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2)   </a:t>
            </a:r>
            <a:r>
              <a:rPr lang="en-US" sz="2400" dirty="0" smtClean="0">
                <a:solidFill>
                  <a:schemeClr val="tx1"/>
                </a:solidFill>
                <a:hlinkClick r:id="rId3"/>
              </a:rPr>
              <a:t>HTTPS://www2.census.gov/programs-surveys/cps/tables</a:t>
            </a:r>
            <a:r>
              <a:rPr lang="en-US" sz="2400" dirty="0" smtClean="0">
                <a:solidFill>
                  <a:schemeClr val="tx1"/>
                </a:solidFill>
              </a:rPr>
              <a:t>    Median Household Income by </a:t>
            </a:r>
            <a:r>
              <a:rPr lang="en-US" sz="2400" dirty="0" smtClean="0">
                <a:solidFill>
                  <a:schemeClr val="tx1"/>
                </a:solidFill>
              </a:rPr>
              <a:t>State</a:t>
            </a:r>
          </a:p>
          <a:p>
            <a:r>
              <a:rPr lang="en-US" sz="2400" dirty="0">
                <a:solidFill>
                  <a:schemeClr val="tx1"/>
                </a:solidFill>
              </a:rPr>
              <a:t>3) </a:t>
            </a:r>
            <a:r>
              <a:rPr lang="en-US" sz="2400" dirty="0">
                <a:solidFill>
                  <a:schemeClr val="tx1"/>
                </a:solidFill>
                <a:hlinkClick r:id="rId4"/>
              </a:rPr>
              <a:t>https://</a:t>
            </a:r>
            <a:r>
              <a:rPr lang="en-US" sz="2400" dirty="0" smtClean="0">
                <a:solidFill>
                  <a:schemeClr val="tx1"/>
                </a:solidFill>
                <a:hlinkClick r:id="rId4"/>
              </a:rPr>
              <a:t>github.com/Columbia-Intro-Data-Science</a:t>
            </a:r>
            <a:endParaRPr lang="en-US" sz="2400" dirty="0" smtClean="0">
              <a:solidFill>
                <a:schemeClr val="tx1"/>
              </a:solidFill>
            </a:endParaRPr>
          </a:p>
          <a:p>
            <a:endParaRPr lang="en-US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891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4300</TotalTime>
  <Words>444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 Math</vt:lpstr>
      <vt:lpstr>Century Gothic</vt:lpstr>
      <vt:lpstr>Wingdings</vt:lpstr>
      <vt:lpstr>Wingdings 3</vt:lpstr>
      <vt:lpstr>Ion</vt:lpstr>
      <vt:lpstr>           Data Analysis, Gradient Descent, and Stochastic  Gradient Descent : A Case Study </vt:lpstr>
      <vt:lpstr> METHODS</vt:lpstr>
      <vt:lpstr> SCATTER PLOTS</vt:lpstr>
      <vt:lpstr> K- Nearest Neighbor Classification</vt:lpstr>
      <vt:lpstr>K-NN Confusion Matrix</vt:lpstr>
      <vt:lpstr> Linear Regression with Gradient Descent</vt:lpstr>
      <vt:lpstr> Gradient Descent</vt:lpstr>
      <vt:lpstr> STOCHASTIC GRADIENT DESCENT</vt:lpstr>
      <vt:lpstr> Stochastic Gradient Descent</vt:lpstr>
      <vt:lpstr> CONCLUSION </vt:lpstr>
      <vt:lpstr> 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REFERENCES</dc:title>
  <dc:creator>Saumya Puthenveettil</dc:creator>
  <cp:lastModifiedBy>Saumya Puthenveettil</cp:lastModifiedBy>
  <cp:revision>89</cp:revision>
  <dcterms:created xsi:type="dcterms:W3CDTF">2018-11-18T04:14:08Z</dcterms:created>
  <dcterms:modified xsi:type="dcterms:W3CDTF">2018-12-05T10:22:35Z</dcterms:modified>
</cp:coreProperties>
</file>