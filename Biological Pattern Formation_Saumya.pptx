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0" r:id="rId1"/>
  </p:sldMasterIdLst>
  <p:sldIdLst>
    <p:sldId id="256" r:id="rId2"/>
    <p:sldId id="257" r:id="rId3"/>
    <p:sldId id="271" r:id="rId4"/>
    <p:sldId id="267" r:id="rId5"/>
    <p:sldId id="263" r:id="rId6"/>
    <p:sldId id="259" r:id="rId7"/>
    <p:sldId id="272" r:id="rId8"/>
    <p:sldId id="258" r:id="rId9"/>
    <p:sldId id="261" r:id="rId10"/>
    <p:sldId id="260" r:id="rId11"/>
    <p:sldId id="268" r:id="rId12"/>
    <p:sldId id="269" r:id="rId13"/>
    <p:sldId id="265" r:id="rId14"/>
    <p:sldId id="264" r:id="rId15"/>
    <p:sldId id="273" r:id="rId16"/>
    <p:sldId id="266" r:id="rId17"/>
    <p:sldId id="274" r:id="rId18"/>
    <p:sldId id="270" r:id="rId1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95" autoAdjust="0"/>
    <p:restoredTop sz="94647" autoAdjust="0"/>
  </p:normalViewPr>
  <p:slideViewPr>
    <p:cSldViewPr>
      <p:cViewPr varScale="1">
        <p:scale>
          <a:sx n="70" d="100"/>
          <a:sy n="70" d="100"/>
        </p:scale>
        <p:origin x="138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ltGray">
          <a:xfrm>
            <a:off x="0" y="0"/>
            <a:ext cx="9143999" cy="5135430"/>
          </a:xfrm>
          <a:prstGeom prst="rect">
            <a:avLst/>
          </a:prstGeom>
          <a:solidFill>
            <a:srgbClr val="0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3355848"/>
            <a:ext cx="8077200" cy="1673352"/>
          </a:xfrm>
        </p:spPr>
        <p:txBody>
          <a:bodyPr vert="horz" lIns="91440" tIns="0" rIns="45720" bIns="0" rtlCol="0" anchor="t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>
            <a:lvl1pPr algn="l">
              <a:defRPr sz="4700" b="1"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1828800"/>
            <a:ext cx="8077200" cy="1499616"/>
          </a:xfrm>
        </p:spPr>
        <p:txBody>
          <a:bodyPr lIns="118872" tIns="0" rIns="45720" bIns="0" anchor="b"/>
          <a:lstStyle>
            <a:lvl1pPr marL="0" indent="0" algn="l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  <a:extLst/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3B2B6-4737-4932-8B97-3BA0658A98F9}" type="datetimeFigureOut">
              <a:rPr lang="en-US" smtClean="0"/>
              <a:pPr/>
              <a:t>9/28/2019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81E33F-685C-4A88-A42C-47513503AE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Rectangle 9"/>
          <p:cNvSpPr/>
          <p:nvPr/>
        </p:nvSpPr>
        <p:spPr bwMode="invGray">
          <a:xfrm>
            <a:off x="0" y="5128334"/>
            <a:ext cx="9144000" cy="4572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54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5448"/>
            <a:ext cx="8229600" cy="1252728"/>
          </a:xfrm>
        </p:spPr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3B2B6-4737-4932-8B97-3BA0658A98F9}" type="datetimeFigureOut">
              <a:rPr lang="en-US" smtClean="0"/>
              <a:pPr/>
              <a:t>9/28/2019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81E33F-685C-4A88-A42C-47513503AEF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ltGray">
          <a:xfrm>
            <a:off x="0" y="1"/>
            <a:ext cx="9144000" cy="2602520"/>
          </a:xfrm>
          <a:prstGeom prst="rect">
            <a:avLst/>
          </a:prstGeom>
          <a:solidFill>
            <a:srgbClr val="0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2" name="Rectangle 11"/>
          <p:cNvSpPr/>
          <p:nvPr/>
        </p:nvSpPr>
        <p:spPr bwMode="invGray">
          <a:xfrm>
            <a:off x="0" y="2602520"/>
            <a:ext cx="9144000" cy="4572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54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808" y="118872"/>
            <a:ext cx="8013192" cy="1636776"/>
          </a:xfrm>
        </p:spPr>
        <p:txBody>
          <a:bodyPr vert="horz" lIns="91440" tIns="0" rIns="91440" bIns="0" rtlCol="0" anchor="b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>
            <a:lvl1pPr algn="l">
              <a:defRPr sz="4700" b="1" cap="none" baseline="0"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0664" y="1828800"/>
            <a:ext cx="8022336" cy="685800"/>
          </a:xfrm>
        </p:spPr>
        <p:txBody>
          <a:bodyPr lIns="146304" tIns="0" rIns="45720" bIns="0" anchor="t"/>
          <a:lstStyle>
            <a:lvl1pPr marL="0" indent="0">
              <a:buNone/>
              <a:defRPr sz="2000">
                <a:solidFill>
                  <a:srgbClr val="FFFF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3B2B6-4737-4932-8B97-3BA0658A98F9}" type="datetimeFigureOut">
              <a:rPr lang="en-US" smtClean="0"/>
              <a:pPr/>
              <a:t>9/28/2019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81E33F-685C-4A88-A42C-47513503AEF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773936"/>
            <a:ext cx="4038600" cy="4623816"/>
          </a:xfrm>
        </p:spPr>
        <p:txBody>
          <a:bodyPr lIns="9144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773936"/>
            <a:ext cx="4038600" cy="462381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3B2B6-4737-4932-8B97-3BA0658A98F9}" type="datetimeFigureOut">
              <a:rPr lang="en-US" smtClean="0"/>
              <a:pPr/>
              <a:t>9/28/2019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81E33F-685C-4A88-A42C-47513503AEF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98987"/>
            <a:ext cx="4040188" cy="715355"/>
          </a:xfrm>
        </p:spPr>
        <p:txBody>
          <a:bodyPr lIns="146304" anchor="ctr"/>
          <a:lstStyle>
            <a:lvl1pPr marL="0" indent="0">
              <a:buNone/>
              <a:defRPr sz="23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449512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698987"/>
            <a:ext cx="4041775" cy="715355"/>
          </a:xfrm>
        </p:spPr>
        <p:txBody>
          <a:bodyPr lIns="146304" anchor="ctr"/>
          <a:lstStyle>
            <a:lvl1pPr marL="0" indent="0">
              <a:buNone/>
              <a:defRPr sz="23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449512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3B2B6-4737-4932-8B97-3BA0658A98F9}" type="datetimeFigureOut">
              <a:rPr lang="en-US" smtClean="0"/>
              <a:pPr/>
              <a:t>9/28/2019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81E33F-685C-4A88-A42C-47513503AEF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3B2B6-4737-4932-8B97-3BA0658A98F9}" type="datetimeFigureOut">
              <a:rPr lang="en-US" smtClean="0"/>
              <a:pPr/>
              <a:t>9/28/2019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81E33F-685C-4A88-A42C-47513503AEF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3B2B6-4737-4932-8B97-3BA0658A98F9}" type="datetimeFigureOut">
              <a:rPr lang="en-US" smtClean="0"/>
              <a:pPr/>
              <a:t>9/28/2019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81E33F-685C-4A88-A42C-47513503AEF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838" y="152400"/>
            <a:ext cx="2523744" cy="978408"/>
          </a:xfrm>
        </p:spPr>
        <p:txBody>
          <a:bodyPr vert="horz" lIns="73152" rIns="45720" bIns="0" rtlCol="0" anchor="b">
            <a:normAutofit/>
            <a:sp3d prstMaterial="matte"/>
          </a:bodyPr>
          <a:lstStyle>
            <a:lvl1pPr algn="l">
              <a:defRPr sz="2000" b="0"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19377" y="1743133"/>
            <a:ext cx="5920641" cy="455888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7838" y="1730018"/>
            <a:ext cx="2468880" cy="45720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3B2B6-4737-4932-8B97-3BA0658A98F9}" type="datetimeFigureOut">
              <a:rPr lang="en-US" smtClean="0"/>
              <a:pPr/>
              <a:t>9/28/2019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81E33F-685C-4A88-A42C-47513503AEF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Rectangle 11"/>
          <p:cNvSpPr/>
          <p:nvPr/>
        </p:nvSpPr>
        <p:spPr bwMode="invGray">
          <a:xfrm>
            <a:off x="2855737" y="0"/>
            <a:ext cx="45720" cy="1453896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Rectangle 8"/>
          <p:cNvSpPr/>
          <p:nvPr/>
        </p:nvSpPr>
        <p:spPr bwMode="invGray">
          <a:xfrm>
            <a:off x="2855737" y="0"/>
            <a:ext cx="45720" cy="1453896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92" y="155448"/>
            <a:ext cx="2525150" cy="978408"/>
          </a:xfrm>
        </p:spPr>
        <p:txBody>
          <a:bodyPr lIns="73152" bIns="0" anchor="b">
            <a:sp3d prstMaterial="matte"/>
          </a:bodyPr>
          <a:lstStyle>
            <a:lvl1pPr algn="l">
              <a:defRPr sz="2000" b="0"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03805" y="1484808"/>
            <a:ext cx="6247397" cy="5373192"/>
          </a:xfrm>
          <a:solidFill>
            <a:schemeClr val="bg2">
              <a:shade val="75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  <a:extLst/>
          </a:lstStyle>
          <a:p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4592" y="1728216"/>
            <a:ext cx="2468880" cy="45720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64592" y="1170432"/>
            <a:ext cx="2523744" cy="201168"/>
          </a:xfrm>
        </p:spPr>
        <p:txBody>
          <a:bodyPr/>
          <a:lstStyle/>
          <a:p>
            <a:fld id="{9E13B2B6-4737-4932-8B97-3BA0658A98F9}" type="datetimeFigureOut">
              <a:rPr lang="en-US" smtClean="0"/>
              <a:pPr/>
              <a:t>9/28/2019</a:t>
            </a:fld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2855737" y="0"/>
            <a:ext cx="45720" cy="685800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Rectangle 8"/>
          <p:cNvSpPr/>
          <p:nvPr/>
        </p:nvSpPr>
        <p:spPr bwMode="invGray">
          <a:xfrm>
            <a:off x="2855737" y="0"/>
            <a:ext cx="45720" cy="685800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35808" y="1170432"/>
            <a:ext cx="5193792" cy="201168"/>
          </a:xfrm>
        </p:spPr>
        <p:txBody>
          <a:bodyPr/>
          <a:lstStyle>
            <a:lvl1pPr>
              <a:defRPr>
                <a:solidFill>
                  <a:schemeClr val="bg1">
                    <a:shade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339328" y="1170432"/>
            <a:ext cx="733864" cy="201168"/>
          </a:xfrm>
        </p:spPr>
        <p:txBody>
          <a:bodyPr/>
          <a:lstStyle/>
          <a:p>
            <a:fld id="{8481E33F-685C-4A88-A42C-47513503AEF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3B2B6-4737-4932-8B97-3BA0658A98F9}" type="datetimeFigureOut">
              <a:rPr lang="en-US" smtClean="0"/>
              <a:pPr/>
              <a:t>9/28/2019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81E33F-685C-4A88-A42C-47513503AEF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invGray">
          <a:xfrm>
            <a:off x="6598920" y="0"/>
            <a:ext cx="45720" cy="685800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108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 bwMode="ltGray">
          <a:xfrm>
            <a:off x="6647687" y="0"/>
            <a:ext cx="2514601" cy="6858000"/>
          </a:xfrm>
          <a:prstGeom prst="rect">
            <a:avLst/>
          </a:prstGeom>
          <a:solidFill>
            <a:srgbClr val="0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81800" y="274640"/>
            <a:ext cx="1905000" cy="5851525"/>
          </a:xfrm>
        </p:spPr>
        <p:txBody>
          <a:bodyPr vert="eaVert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304800"/>
            <a:ext cx="6019800" cy="5851525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3B2B6-4737-4932-8B97-3BA0658A98F9}" type="datetimeFigureOut">
              <a:rPr lang="en-US" smtClean="0"/>
              <a:pPr/>
              <a:t>9/28/2019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40597" y="6377459"/>
            <a:ext cx="3836404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81E33F-685C-4A88-A42C-47513503AEF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 bwMode="invGray">
          <a:xfrm>
            <a:off x="0" y="1435895"/>
            <a:ext cx="9144000" cy="4572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54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7" name="Rectangle 6"/>
          <p:cNvSpPr/>
          <p:nvPr/>
        </p:nvSpPr>
        <p:spPr bwMode="ltGray">
          <a:xfrm>
            <a:off x="0" y="0"/>
            <a:ext cx="9143999" cy="1433733"/>
          </a:xfrm>
          <a:prstGeom prst="rect">
            <a:avLst/>
          </a:prstGeom>
          <a:solidFill>
            <a:srgbClr val="0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1251062"/>
          </a:xfrm>
          <a:prstGeom prst="rect">
            <a:avLst/>
          </a:prstGeom>
        </p:spPr>
        <p:txBody>
          <a:bodyPr vert="horz" lIns="91440" rIns="45720" rtlCol="0" anchor="ctr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775191"/>
            <a:ext cx="8229600" cy="4625609"/>
          </a:xfrm>
          <a:prstGeom prst="rect">
            <a:avLst/>
          </a:prstGeom>
        </p:spPr>
        <p:txBody>
          <a:bodyPr vert="horz" lIns="54864" tIns="91440" rtlCol="0">
            <a:normAutofit/>
          </a:bodyPr>
          <a:lstStyle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476999"/>
            <a:ext cx="2133600" cy="274320"/>
          </a:xfrm>
          <a:prstGeom prst="rect">
            <a:avLst/>
          </a:prstGeom>
        </p:spPr>
        <p:txBody>
          <a:bodyPr vert="horz" lIns="109728" rIns="45720" bIns="0" rtlCol="0" anchor="b"/>
          <a:lstStyle>
            <a:lvl1pPr algn="l" eaLnBrk="1" latinLnBrk="0" hangingPunct="1">
              <a:defRPr kumimoji="0" sz="1200">
                <a:solidFill>
                  <a:schemeClr val="tx1">
                    <a:tint val="95000"/>
                  </a:schemeClr>
                </a:solidFill>
              </a:defRPr>
            </a:lvl1pPr>
            <a:extLst/>
          </a:lstStyle>
          <a:p>
            <a:fld id="{9E13B2B6-4737-4932-8B97-3BA0658A98F9}" type="datetimeFigureOut">
              <a:rPr lang="en-US" smtClean="0"/>
              <a:pPr/>
              <a:t>9/28/2019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40596" y="6476999"/>
            <a:ext cx="5507719" cy="274320"/>
          </a:xfrm>
          <a:prstGeom prst="rect">
            <a:avLst/>
          </a:prstGeom>
        </p:spPr>
        <p:txBody>
          <a:bodyPr vert="horz" lIns="45720" rIns="45720" bIns="0" rtlCol="0" anchor="b"/>
          <a:lstStyle>
            <a:lvl1pPr algn="l" eaLnBrk="1" latinLnBrk="0" hangingPunct="1">
              <a:defRPr kumimoji="0" sz="1200">
                <a:solidFill>
                  <a:schemeClr val="tx1">
                    <a:tint val="95000"/>
                  </a:schemeClr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04396" y="6476999"/>
            <a:ext cx="733864" cy="274320"/>
          </a:xfrm>
          <a:prstGeom prst="rect">
            <a:avLst/>
          </a:prstGeom>
        </p:spPr>
        <p:txBody>
          <a:bodyPr vert="horz" bIns="0" rtlCol="0" anchor="b"/>
          <a:lstStyle>
            <a:lvl1pPr algn="r" eaLnBrk="1" latinLnBrk="0" hangingPunct="1">
              <a:defRPr kumimoji="0" sz="1200">
                <a:solidFill>
                  <a:schemeClr val="tx1">
                    <a:tint val="95000"/>
                  </a:schemeClr>
                </a:solidFill>
              </a:defRPr>
            </a:lvl1pPr>
            <a:extLst/>
          </a:lstStyle>
          <a:p>
            <a:fld id="{8481E33F-685C-4A88-A42C-47513503AEFC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l" rtl="0" eaLnBrk="1" latinLnBrk="0" hangingPunct="1">
        <a:spcBef>
          <a:spcPct val="0"/>
        </a:spcBef>
        <a:buNone/>
        <a:defRPr kumimoji="0" sz="4500" b="1" kern="1200">
          <a:solidFill>
            <a:schemeClr val="accent1">
              <a:satMod val="150000"/>
            </a:schemeClr>
          </a:solidFill>
          <a:effectLst/>
          <a:latin typeface="+mj-lt"/>
          <a:ea typeface="+mj-ea"/>
          <a:cs typeface="+mj-cs"/>
        </a:defRPr>
      </a:lvl1pPr>
      <a:extLst/>
    </p:titleStyle>
    <p:bodyStyle>
      <a:lvl1pPr marL="438912" indent="-320040" algn="l" rtl="0" eaLnBrk="1" latinLnBrk="0" hangingPunct="1">
        <a:spcBef>
          <a:spcPts val="0"/>
        </a:spcBef>
        <a:buClr>
          <a:schemeClr val="accent1"/>
        </a:buClr>
        <a:buSzPct val="80000"/>
        <a:buFont typeface="Wingdings 2"/>
        <a:buChar char="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31520" indent="-274320" algn="l" rtl="0" eaLnBrk="1" latinLnBrk="0" hangingPunct="1">
        <a:spcBef>
          <a:spcPct val="20000"/>
        </a:spcBef>
        <a:buClr>
          <a:schemeClr val="accent2"/>
        </a:buClr>
        <a:buSzPct val="90000"/>
        <a:buFont typeface="Wingdings"/>
        <a:buChar char="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996696" indent="-228600" algn="l" rtl="0" eaLnBrk="1" latinLnBrk="0" hangingPunct="1">
        <a:spcBef>
          <a:spcPct val="20000"/>
        </a:spcBef>
        <a:buClr>
          <a:schemeClr val="accent3"/>
        </a:buClr>
        <a:buFont typeface="Arial"/>
        <a:buChar char="▪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216152" indent="-182880" algn="l" rtl="0" eaLnBrk="1" latinLnBrk="0" hangingPunct="1">
        <a:spcBef>
          <a:spcPct val="20000"/>
        </a:spcBef>
        <a:buClr>
          <a:schemeClr val="accent4"/>
        </a:buClr>
        <a:buFont typeface="Arial"/>
        <a:buChar char="▪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26464" indent="-182880" algn="l" rtl="0" eaLnBrk="1" latinLnBrk="0" hangingPunct="1">
        <a:spcBef>
          <a:spcPct val="20000"/>
        </a:spcBef>
        <a:buClr>
          <a:schemeClr val="accent5"/>
        </a:buClr>
        <a:buFont typeface="Wingdings 3"/>
        <a:buChar char=""/>
        <a:defRPr kumimoji="0" lang="en-US" sz="20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1627632" indent="-182880" algn="l" rtl="0" eaLnBrk="1" latinLnBrk="0" hangingPunct="1">
        <a:spcBef>
          <a:spcPct val="20000"/>
        </a:spcBef>
        <a:buClr>
          <a:schemeClr val="accent6"/>
        </a:buClr>
        <a:buSzPct val="100000"/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ct val="20000"/>
        </a:spcBef>
        <a:buClr>
          <a:schemeClr val="accent1"/>
        </a:buClr>
        <a:buSzPct val="100000"/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2029968" indent="-182880" algn="l" rtl="0" eaLnBrk="1" latinLnBrk="0" hangingPunct="1">
        <a:spcBef>
          <a:spcPct val="20000"/>
        </a:spcBef>
        <a:buClr>
          <a:schemeClr val="accent2"/>
        </a:buClr>
        <a:buFont typeface="Wingdings 2" pitchFamily="18" charset="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2231136" indent="-182880" algn="l" rtl="0" eaLnBrk="1" latinLnBrk="0" hangingPunct="1">
        <a:spcBef>
          <a:spcPct val="20000"/>
        </a:spcBef>
        <a:buClr>
          <a:schemeClr val="accent3"/>
        </a:buClr>
        <a:buFont typeface="Wingdings 2" pitchFamily="18" charset="2"/>
        <a:buChar char="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idx="4294967295"/>
          </p:nvPr>
        </p:nvSpPr>
        <p:spPr>
          <a:xfrm>
            <a:off x="381000" y="533400"/>
            <a:ext cx="7772400" cy="1470025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The reaction-diffusion system: a mechanism for autonomous pattern formation in the animal skin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4294967295"/>
          </p:nvPr>
        </p:nvSpPr>
        <p:spPr>
          <a:xfrm>
            <a:off x="533400" y="4343400"/>
            <a:ext cx="8077200" cy="1500188"/>
          </a:xfrm>
        </p:spPr>
        <p:txBody>
          <a:bodyPr>
            <a:normAutofit/>
          </a:bodyPr>
          <a:lstStyle/>
          <a:p>
            <a:r>
              <a:rPr lang="en-US" sz="2600" dirty="0" smtClean="0"/>
              <a:t>March 27, 2012</a:t>
            </a:r>
          </a:p>
          <a:p>
            <a:r>
              <a:rPr lang="en-US" sz="2600" dirty="0" smtClean="0"/>
              <a:t>Foundations of Mathematical Biology –MATH 637</a:t>
            </a:r>
          </a:p>
          <a:p>
            <a:r>
              <a:rPr lang="en-US" sz="2600" dirty="0" smtClean="0"/>
              <a:t>Saumya Puthenveettil</a:t>
            </a:r>
            <a:endParaRPr lang="en-US" sz="2600" dirty="0"/>
          </a:p>
        </p:txBody>
      </p:sp>
      <p:sp>
        <p:nvSpPr>
          <p:cNvPr id="4" name="Subtitle 2"/>
          <p:cNvSpPr txBox="1">
            <a:spLocks/>
          </p:cNvSpPr>
          <p:nvPr/>
        </p:nvSpPr>
        <p:spPr>
          <a:xfrm>
            <a:off x="304800" y="2438400"/>
            <a:ext cx="8610600" cy="1500188"/>
          </a:xfrm>
          <a:prstGeom prst="rect">
            <a:avLst/>
          </a:prstGeom>
        </p:spPr>
        <p:txBody>
          <a:bodyPr vert="horz" lIns="54864" tIns="91440" rtlCol="0">
            <a:normAutofit/>
          </a:bodyPr>
          <a:lstStyle/>
          <a:p>
            <a:pPr marL="438912" marR="0" lvl="0" indent="-32004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tabLst/>
              <a:defRPr/>
            </a:pPr>
            <a:r>
              <a:rPr kumimoji="0" lang="en-US" sz="2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Shigeru Kondo</a:t>
            </a:r>
          </a:p>
          <a:p>
            <a:pPr marL="438912" marR="0" lvl="0" indent="-32004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tabLst/>
              <a:defRPr/>
            </a:pPr>
            <a:r>
              <a:rPr lang="en-US" sz="2600" dirty="0" smtClean="0"/>
              <a:t>Genes to Cells, 2002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Background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76400"/>
            <a:ext cx="8001000" cy="4797552"/>
          </a:xfrm>
        </p:spPr>
        <p:txBody>
          <a:bodyPr>
            <a:normAutofit/>
          </a:bodyPr>
          <a:lstStyle/>
          <a:p>
            <a:r>
              <a:rPr lang="en-US" dirty="0" smtClean="0"/>
              <a:t>Reaction-Diffusion (RD) system can form spatial patterns (Turing 1952)</a:t>
            </a:r>
          </a:p>
          <a:p>
            <a:r>
              <a:rPr lang="en-US" dirty="0" smtClean="0"/>
              <a:t>RD system forms periodic patterns</a:t>
            </a:r>
          </a:p>
          <a:p>
            <a:r>
              <a:rPr lang="en-US" dirty="0" smtClean="0"/>
              <a:t>Two chemical substances interact with one another, with different diffusion rates (activator and inhibitor)</a:t>
            </a:r>
          </a:p>
          <a:p>
            <a:r>
              <a:rPr lang="en-US" dirty="0" smtClean="0"/>
              <a:t>Turing believed this may provide information about the development of an embryo </a:t>
            </a:r>
          </a:p>
          <a:p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Background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 smtClean="0"/>
              <a:t>Morphogen</a:t>
            </a:r>
            <a:r>
              <a:rPr lang="en-US" dirty="0" smtClean="0"/>
              <a:t>: substance that controls tissue development</a:t>
            </a:r>
          </a:p>
          <a:p>
            <a:r>
              <a:rPr lang="en-US" dirty="0" smtClean="0"/>
              <a:t>Assumed that genes act merely as catalysts for spontaneous chemical reactions which regulate the production of </a:t>
            </a:r>
            <a:r>
              <a:rPr lang="en-US" dirty="0" err="1" smtClean="0"/>
              <a:t>morphogens</a:t>
            </a:r>
            <a:r>
              <a:rPr lang="en-US" dirty="0" smtClean="0"/>
              <a:t>.</a:t>
            </a:r>
          </a:p>
          <a:p>
            <a:r>
              <a:rPr lang="en-US" dirty="0" smtClean="0"/>
              <a:t>Cells differentiate as a result of </a:t>
            </a:r>
            <a:r>
              <a:rPr lang="en-US" dirty="0" err="1" smtClean="0"/>
              <a:t>morphogen</a:t>
            </a:r>
            <a:r>
              <a:rPr lang="en-US" dirty="0" smtClean="0"/>
              <a:t> concentrations</a:t>
            </a:r>
          </a:p>
          <a:p>
            <a:r>
              <a:rPr lang="en-US" dirty="0" smtClean="0"/>
              <a:t>Morphogenesis : development of shape or form</a:t>
            </a:r>
          </a:p>
          <a:p>
            <a:pPr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Morphogenesis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Random initial conditions can cause spontaneous spreading and reacting of chemicals</a:t>
            </a:r>
          </a:p>
          <a:p>
            <a:r>
              <a:rPr lang="en-US" dirty="0" smtClean="0"/>
              <a:t>Turing stated cells differentiate according to </a:t>
            </a:r>
            <a:r>
              <a:rPr lang="en-US" dirty="0" err="1" smtClean="0"/>
              <a:t>morphogen</a:t>
            </a:r>
            <a:r>
              <a:rPr lang="en-US" dirty="0" smtClean="0"/>
              <a:t> concentration</a:t>
            </a:r>
          </a:p>
          <a:p>
            <a:r>
              <a:rPr lang="en-US" dirty="0" smtClean="0"/>
              <a:t>Activator and inhibitor diffuse into neighboring cells due to concentration gradient</a:t>
            </a:r>
          </a:p>
          <a:p>
            <a:endParaRPr lang="en-US" dirty="0" smtClean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 Cont’d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Question: How can a spherical  egg become an organism such as a horse or human?</a:t>
            </a:r>
          </a:p>
          <a:p>
            <a:r>
              <a:rPr lang="en-US" dirty="0" smtClean="0"/>
              <a:t>“ It is important that there are some deviations, for the system may reach a state of instability in which these irregularities tend to grow”</a:t>
            </a:r>
          </a:p>
          <a:p>
            <a:r>
              <a:rPr lang="en-US" dirty="0" smtClean="0"/>
              <a:t>Without instability, the egg will stay in its spherical state forever 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381000" y="152400"/>
            <a:ext cx="8229600" cy="1252538"/>
          </a:xfrm>
        </p:spPr>
        <p:txBody>
          <a:bodyPr>
            <a:normAutofit/>
          </a:bodyPr>
          <a:lstStyle/>
          <a:p>
            <a:r>
              <a:rPr lang="en-US" dirty="0" smtClean="0"/>
              <a:t>Background</a:t>
            </a:r>
            <a:endParaRPr lang="en-US" dirty="0"/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609600" y="1219200"/>
            <a:ext cx="7848600" cy="5254752"/>
          </a:xfrm>
          <a:prstGeom prst="rect">
            <a:avLst/>
          </a:prstGeom>
        </p:spPr>
        <p:txBody>
          <a:bodyPr/>
          <a:lstStyle/>
          <a:p>
            <a:pPr marL="438912" lvl="0" indent="-320040">
              <a:buClr>
                <a:schemeClr val="accent1"/>
              </a:buClr>
              <a:buSzPct val="80000"/>
              <a:buFont typeface="Wingdings 2"/>
              <a:buChar char=""/>
              <a:defRPr/>
            </a:pPr>
            <a:r>
              <a:rPr lang="en-US" sz="3200" dirty="0" smtClean="0"/>
              <a:t>RD reaction – in the presence of diffusion leads to instability ( Turing bifurcation leads to patterns)</a:t>
            </a:r>
          </a:p>
          <a:p>
            <a:pPr marL="438912" lvl="0" indent="-320040">
              <a:buClr>
                <a:schemeClr val="accent1"/>
              </a:buClr>
              <a:buSzPct val="80000"/>
              <a:buFont typeface="Wingdings 2"/>
              <a:buChar char=""/>
              <a:defRPr/>
            </a:pPr>
            <a:r>
              <a:rPr lang="en-US" sz="3200" dirty="0" smtClean="0"/>
              <a:t>The pace of diffusions (unequal) causes instability</a:t>
            </a:r>
          </a:p>
          <a:p>
            <a:pPr marL="438912" lvl="0" indent="-320040">
              <a:buClr>
                <a:schemeClr val="accent1"/>
              </a:buClr>
              <a:buSzPct val="80000"/>
              <a:buFont typeface="Wingdings 2"/>
              <a:buChar char=""/>
              <a:defRPr/>
            </a:pPr>
            <a:r>
              <a:rPr lang="en-US" sz="3200" dirty="0" smtClean="0"/>
              <a:t>RD reactions are a simplification of the actual processes occurring between cells (mechanical/electrical)</a:t>
            </a:r>
          </a:p>
          <a:p>
            <a:pPr marL="438912" lvl="0" indent="-320040">
              <a:buClr>
                <a:schemeClr val="accent1"/>
              </a:buClr>
              <a:buSzPct val="80000"/>
              <a:buFont typeface="Wingdings 2"/>
              <a:buChar char=""/>
              <a:defRPr/>
            </a:pPr>
            <a:r>
              <a:rPr lang="en-US" sz="3200" dirty="0" smtClean="0"/>
              <a:t>Missionaries and Cannibals  example</a:t>
            </a:r>
          </a:p>
          <a:p>
            <a:pPr marL="438912" marR="0" lvl="0" indent="-32004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2"/>
              <a:buChar char=""/>
              <a:tabLst/>
              <a:defRPr/>
            </a:pPr>
            <a:endParaRPr lang="en-US" sz="3200" baseline="0" dirty="0" smtClean="0"/>
          </a:p>
          <a:p>
            <a:pPr marL="438912" marR="0" lvl="0" indent="-32004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tabLst/>
              <a:defRPr/>
            </a:pP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 txBox="1">
            <a:spLocks/>
          </p:cNvSpPr>
          <p:nvPr/>
        </p:nvSpPr>
        <p:spPr>
          <a:xfrm>
            <a:off x="609600" y="533400"/>
            <a:ext cx="7848600" cy="5254752"/>
          </a:xfrm>
          <a:prstGeom prst="rect">
            <a:avLst/>
          </a:prstGeom>
        </p:spPr>
        <p:txBody>
          <a:bodyPr/>
          <a:lstStyle/>
          <a:p>
            <a:pPr marL="438912" marR="0" lvl="0" indent="-32004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2"/>
              <a:buChar char=""/>
              <a:tabLst/>
              <a:defRPr/>
            </a:pPr>
            <a:r>
              <a:rPr lang="en-US" sz="3200" baseline="0" dirty="0" smtClean="0"/>
              <a:t>Diffusion=movement</a:t>
            </a:r>
            <a:r>
              <a:rPr lang="en-US" sz="3200" dirty="0" smtClean="0"/>
              <a:t> of cannibals and missionaries</a:t>
            </a:r>
          </a:p>
          <a:p>
            <a:pPr marL="438912" marR="0" lvl="0" indent="-32004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2"/>
              <a:buChar char=""/>
              <a:tabLst/>
              <a:defRPr/>
            </a:pPr>
            <a:r>
              <a:rPr lang="en-US" sz="3200" dirty="0" smtClean="0"/>
              <a:t>Cannibal dominance one color, Missionary dominance another color</a:t>
            </a:r>
          </a:p>
          <a:p>
            <a:pPr marL="438912" marR="0" lvl="0" indent="-32004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2"/>
              <a:buChar char=""/>
              <a:tabLst/>
              <a:defRPr/>
            </a:pPr>
            <a:r>
              <a:rPr lang="en-US" sz="3200" baseline="0" dirty="0" smtClean="0"/>
              <a:t>RD</a:t>
            </a:r>
            <a:r>
              <a:rPr lang="en-US" sz="3200" dirty="0" smtClean="0"/>
              <a:t> kept out of equilibrium by fresh chemicals continuously fed into system</a:t>
            </a:r>
          </a:p>
          <a:p>
            <a:pPr marL="438912" marR="0" lvl="0" indent="-32004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2"/>
              <a:buChar char=""/>
              <a:tabLst/>
              <a:defRPr/>
            </a:pPr>
            <a:r>
              <a:rPr lang="en-US" sz="3200" baseline="0" dirty="0" smtClean="0"/>
              <a:t>Once</a:t>
            </a:r>
            <a:r>
              <a:rPr lang="en-US" sz="3200" dirty="0" smtClean="0"/>
              <a:t> fresh chemicals start, system returns  to equilibrium</a:t>
            </a:r>
            <a:endParaRPr lang="en-US" sz="3200" baseline="0" dirty="0" smtClean="0"/>
          </a:p>
          <a:p>
            <a:pPr marL="438912" marR="0" lvl="0" indent="-32004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tabLst/>
              <a:defRPr/>
            </a:pP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0" y="155575"/>
            <a:ext cx="8229600" cy="1252538"/>
          </a:xfrm>
        </p:spPr>
        <p:txBody>
          <a:bodyPr/>
          <a:lstStyle/>
          <a:p>
            <a:r>
              <a:rPr lang="en-US" dirty="0" smtClean="0"/>
              <a:t>Background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0" y="1774825"/>
            <a:ext cx="8229600" cy="4625975"/>
          </a:xfrm>
        </p:spPr>
        <p:txBody>
          <a:bodyPr/>
          <a:lstStyle/>
          <a:p>
            <a:pPr>
              <a:buNone/>
            </a:pPr>
            <a:endParaRPr lang="en-US" dirty="0" smtClean="0"/>
          </a:p>
          <a:p>
            <a:endParaRPr lang="en-US" dirty="0"/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3000" y="1219200"/>
            <a:ext cx="4662710" cy="5257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Background</a:t>
            </a:r>
            <a:endParaRPr lang="en-US" dirty="0"/>
          </a:p>
        </p:txBody>
      </p:sp>
      <p:pic>
        <p:nvPicPr>
          <p:cNvPr id="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343400" y="1752600"/>
            <a:ext cx="3648357" cy="4625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Content Placeholder 2"/>
          <p:cNvSpPr txBox="1">
            <a:spLocks/>
          </p:cNvSpPr>
          <p:nvPr/>
        </p:nvSpPr>
        <p:spPr>
          <a:xfrm>
            <a:off x="609600" y="1828800"/>
            <a:ext cx="3733800" cy="4645152"/>
          </a:xfrm>
          <a:prstGeom prst="rect">
            <a:avLst/>
          </a:prstGeom>
        </p:spPr>
        <p:txBody>
          <a:bodyPr/>
          <a:lstStyle/>
          <a:p>
            <a:pPr marL="438912" lvl="0" indent="-320040">
              <a:buClr>
                <a:schemeClr val="accent1"/>
              </a:buClr>
              <a:buSzPct val="80000"/>
              <a:buFont typeface="Wingdings 2"/>
              <a:buChar char=""/>
              <a:defRPr/>
            </a:pPr>
            <a:r>
              <a:rPr lang="en-US" sz="2400" dirty="0" smtClean="0"/>
              <a:t>Skin pattern preferred over embryo for experimental testing of RD system since its noninvasive</a:t>
            </a:r>
          </a:p>
          <a:p>
            <a:pPr marL="438912" lvl="0" indent="-320040">
              <a:buClr>
                <a:schemeClr val="accent1"/>
              </a:buClr>
              <a:buSzPct val="80000"/>
              <a:buFont typeface="Wingdings 2"/>
              <a:buChar char=""/>
              <a:defRPr/>
            </a:pPr>
            <a:r>
              <a:rPr lang="en-US" sz="2400" noProof="0" dirty="0" smtClean="0"/>
              <a:t>In mammals RD mechanism inactive, in fish it is active 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Morhogenesis</a:t>
            </a:r>
            <a:endParaRPr lang="en-US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0" y="1447800"/>
            <a:ext cx="8229600" cy="1752600"/>
          </a:xfrm>
          <a:prstGeom prst="rect">
            <a:avLst/>
          </a:prstGeom>
        </p:spPr>
        <p:txBody>
          <a:bodyPr vert="horz" lIns="54864" tIns="91440" rtlCol="0">
            <a:normAutofit/>
          </a:bodyPr>
          <a:lstStyle/>
          <a:p>
            <a:pPr marL="438912" lvl="0" indent="-320040">
              <a:buClr>
                <a:schemeClr val="accent1"/>
              </a:buClr>
              <a:buSzPct val="80000"/>
              <a:buFont typeface="Wingdings 2"/>
              <a:buChar char=""/>
            </a:pPr>
            <a:r>
              <a:rPr lang="en-US" sz="3200" dirty="0" smtClean="0"/>
              <a:t>D</a:t>
            </a:r>
            <a:r>
              <a:rPr lang="en-US" sz="3200" baseline="-25000" dirty="0" smtClean="0"/>
              <a:t>B</a:t>
            </a:r>
            <a:r>
              <a:rPr lang="en-US" sz="3200" dirty="0" smtClean="0"/>
              <a:t>&gt;D</a:t>
            </a:r>
            <a:r>
              <a:rPr lang="en-US" sz="3200" baseline="-25000" dirty="0" smtClean="0"/>
              <a:t>A</a:t>
            </a:r>
            <a:endParaRPr lang="en-US" sz="3200" dirty="0" smtClean="0"/>
          </a:p>
          <a:p>
            <a:pPr marL="438912" indent="-320040">
              <a:buClr>
                <a:schemeClr val="accent1"/>
              </a:buClr>
              <a:buSzPct val="80000"/>
              <a:buFont typeface="Wingdings 2"/>
              <a:buChar char=""/>
            </a:pPr>
            <a:r>
              <a:rPr lang="en-US" sz="3200" dirty="0" smtClean="0"/>
              <a:t>Reaction and Diffusion Equations for activator and inhibitor </a:t>
            </a:r>
          </a:p>
          <a:p>
            <a:pPr marL="438912" lvl="0" indent="-320040">
              <a:buClr>
                <a:schemeClr val="accent1"/>
              </a:buClr>
              <a:buSzPct val="80000"/>
              <a:buFont typeface="Wingdings 2"/>
              <a:buChar char=""/>
            </a:pPr>
            <a:endParaRPr kumimoji="0" lang="en-US" sz="32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438912" marR="0" lvl="0" indent="-32004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2"/>
              <a:buChar char=""/>
              <a:tabLst/>
              <a:defRPr/>
            </a:pP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5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38400" y="5029200"/>
            <a:ext cx="3524250" cy="1485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19400" y="3429000"/>
            <a:ext cx="2647950" cy="809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MODEL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 smtClean="0"/>
              <a:t>Suppose:</a:t>
            </a:r>
          </a:p>
          <a:p>
            <a:r>
              <a:rPr lang="en-US" dirty="0" smtClean="0"/>
              <a:t>∂u/ ∂t= 0.6u-v-u</a:t>
            </a:r>
            <a:r>
              <a:rPr lang="en-US" baseline="30000" dirty="0" smtClean="0"/>
              <a:t>3</a:t>
            </a:r>
            <a:r>
              <a:rPr lang="en-US" dirty="0" smtClean="0"/>
              <a:t> +0.0002 ∂</a:t>
            </a:r>
            <a:r>
              <a:rPr lang="en-US" baseline="30000" dirty="0" smtClean="0"/>
              <a:t>2</a:t>
            </a:r>
            <a:r>
              <a:rPr lang="en-US" dirty="0" smtClean="0"/>
              <a:t>u/ ∂x</a:t>
            </a:r>
            <a:r>
              <a:rPr lang="en-US" baseline="30000" dirty="0" smtClean="0"/>
              <a:t>2</a:t>
            </a:r>
          </a:p>
          <a:p>
            <a:r>
              <a:rPr lang="en-US" dirty="0" smtClean="0"/>
              <a:t>∂v/ ∂t= 1.5u-2v +0.01 ∂</a:t>
            </a:r>
            <a:r>
              <a:rPr lang="en-US" baseline="30000" dirty="0" smtClean="0"/>
              <a:t>2</a:t>
            </a:r>
            <a:r>
              <a:rPr lang="en-US" dirty="0" smtClean="0"/>
              <a:t>v/ ∂x</a:t>
            </a:r>
            <a:r>
              <a:rPr lang="en-US" baseline="30000" dirty="0" smtClean="0"/>
              <a:t>2</a:t>
            </a:r>
          </a:p>
          <a:p>
            <a:endParaRPr lang="en-US" baseline="30000" dirty="0" smtClean="0"/>
          </a:p>
          <a:p>
            <a:r>
              <a:rPr lang="en-US" dirty="0" smtClean="0"/>
              <a:t>Activator and Inhibitor interact in each element</a:t>
            </a:r>
          </a:p>
          <a:p>
            <a:r>
              <a:rPr lang="en-US" dirty="0" smtClean="0"/>
              <a:t>Activator and Inhibitor interact with their neighboring elements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MODEL</a:t>
            </a:r>
            <a:endParaRPr lang="en-US" dirty="0"/>
          </a:p>
        </p:txBody>
      </p:sp>
      <p:pic>
        <p:nvPicPr>
          <p:cNvPr id="4098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65023" y="2115849"/>
            <a:ext cx="6126377" cy="42849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0" y="155575"/>
            <a:ext cx="8229600" cy="1252538"/>
          </a:xfrm>
        </p:spPr>
        <p:txBody>
          <a:bodyPr/>
          <a:lstStyle/>
          <a:p>
            <a:r>
              <a:rPr lang="en-US" dirty="0" smtClean="0"/>
              <a:t>MODEL</a:t>
            </a:r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1828800"/>
            <a:ext cx="5229225" cy="40771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/>
          <p:cNvSpPr txBox="1"/>
          <p:nvPr/>
        </p:nvSpPr>
        <p:spPr>
          <a:xfrm>
            <a:off x="1676400" y="1371600"/>
            <a:ext cx="50292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Activator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Example : Vascular </a:t>
            </a:r>
            <a:r>
              <a:rPr lang="en-US" dirty="0" err="1" smtClean="0"/>
              <a:t>Mesenchymal</a:t>
            </a:r>
            <a:r>
              <a:rPr lang="en-US" dirty="0" smtClean="0"/>
              <a:t> Cells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In an embryo, </a:t>
            </a:r>
            <a:r>
              <a:rPr lang="en-US" dirty="0" err="1" smtClean="0"/>
              <a:t>mesenchymal</a:t>
            </a:r>
            <a:r>
              <a:rPr lang="en-US" dirty="0" smtClean="0"/>
              <a:t> cells organize into different shapes and sizes to form patterns of tissues ( ribs, vertebrae)</a:t>
            </a:r>
          </a:p>
          <a:p>
            <a:r>
              <a:rPr lang="en-US" dirty="0" smtClean="0"/>
              <a:t>VMC’s differentiate into other cell types</a:t>
            </a:r>
          </a:p>
          <a:p>
            <a:r>
              <a:rPr lang="en-US" dirty="0" smtClean="0"/>
              <a:t>Resulting tissue forms patterns</a:t>
            </a:r>
          </a:p>
          <a:p>
            <a:r>
              <a:rPr lang="en-US" dirty="0" smtClean="0"/>
              <a:t>When culturing VMCs there is no pattern</a:t>
            </a:r>
          </a:p>
          <a:p>
            <a:r>
              <a:rPr lang="en-US" dirty="0" smtClean="0"/>
              <a:t>After ~20 days, the cells spread and organize into patterns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VMC’S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Day 1: VMC’s show no pattern – scattered (a)</a:t>
            </a:r>
          </a:p>
          <a:p>
            <a:r>
              <a:rPr lang="en-US" dirty="0" smtClean="0"/>
              <a:t>Day 4: VMC’s align with neighbors into “swirls” (b)</a:t>
            </a:r>
          </a:p>
          <a:p>
            <a:r>
              <a:rPr lang="en-US" dirty="0" smtClean="0"/>
              <a:t>Day 10, cells aggregate </a:t>
            </a:r>
            <a:r>
              <a:rPr lang="en-US" smtClean="0"/>
              <a:t>into stripe-like </a:t>
            </a:r>
            <a:r>
              <a:rPr lang="en-US" dirty="0" smtClean="0"/>
              <a:t>ridge pattern(c)</a:t>
            </a:r>
          </a:p>
          <a:p>
            <a:r>
              <a:rPr lang="en-US" dirty="0" smtClean="0"/>
              <a:t>Several days, ridges connect (d)</a:t>
            </a:r>
          </a:p>
          <a:p>
            <a:r>
              <a:rPr lang="en-US" dirty="0" smtClean="0"/>
              <a:t>Cells reorient themselves suggesting </a:t>
            </a:r>
            <a:r>
              <a:rPr lang="en-US" dirty="0" err="1" smtClean="0"/>
              <a:t>chemotaxic</a:t>
            </a:r>
            <a:r>
              <a:rPr lang="en-US" dirty="0" smtClean="0"/>
              <a:t> migration</a:t>
            </a:r>
          </a:p>
          <a:p>
            <a:endParaRPr lang="en-US" dirty="0" smtClean="0"/>
          </a:p>
          <a:p>
            <a:endParaRPr lang="en-US" dirty="0" smtClean="0"/>
          </a:p>
          <a:p>
            <a:endParaRPr lang="en-US" dirty="0" smtClean="0"/>
          </a:p>
          <a:p>
            <a:endParaRPr lang="en-US" dirty="0" smtClean="0"/>
          </a:p>
          <a:p>
            <a:endParaRPr lang="en-US" dirty="0" smtClean="0"/>
          </a:p>
          <a:p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Morhogenesis</a:t>
            </a:r>
            <a:endParaRPr lang="en-US" dirty="0"/>
          </a:p>
        </p:txBody>
      </p:sp>
      <p:pic>
        <p:nvPicPr>
          <p:cNvPr id="614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495800" y="1524000"/>
            <a:ext cx="4114800" cy="22090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149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419600" y="3962400"/>
            <a:ext cx="4210050" cy="2447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" name="Content Placeholder 2"/>
          <p:cNvSpPr txBox="1">
            <a:spLocks/>
          </p:cNvSpPr>
          <p:nvPr/>
        </p:nvSpPr>
        <p:spPr>
          <a:xfrm>
            <a:off x="609600" y="1828800"/>
            <a:ext cx="3733800" cy="4645152"/>
          </a:xfrm>
          <a:prstGeom prst="rect">
            <a:avLst/>
          </a:prstGeom>
        </p:spPr>
        <p:txBody>
          <a:bodyPr/>
          <a:lstStyle/>
          <a:p>
            <a:pPr marL="438912" lvl="0" indent="-320040">
              <a:buClr>
                <a:schemeClr val="accent1"/>
              </a:buClr>
              <a:buSzPct val="80000"/>
              <a:buFont typeface="Wingdings 2"/>
              <a:buChar char=""/>
              <a:defRPr/>
            </a:pPr>
            <a:r>
              <a:rPr lang="en-US" sz="2400" dirty="0" smtClean="0"/>
              <a:t>In VMC’s BMP-2 is a powerful </a:t>
            </a:r>
            <a:r>
              <a:rPr lang="en-US" sz="2400" dirty="0" err="1" smtClean="0"/>
              <a:t>morphogen</a:t>
            </a:r>
            <a:r>
              <a:rPr lang="en-US" sz="2400" dirty="0" smtClean="0"/>
              <a:t> and </a:t>
            </a:r>
            <a:r>
              <a:rPr lang="en-US" sz="2400" dirty="0" err="1" smtClean="0"/>
              <a:t>chemoattractant</a:t>
            </a:r>
            <a:endParaRPr lang="en-US" sz="2400" dirty="0" smtClean="0"/>
          </a:p>
          <a:p>
            <a:pPr marL="438912" lvl="0" indent="-320040">
              <a:buClr>
                <a:schemeClr val="accent1"/>
              </a:buClr>
              <a:buSzPct val="80000"/>
              <a:buFont typeface="Wingdings 2"/>
              <a:buChar char=""/>
              <a:defRPr/>
            </a:pPr>
            <a:r>
              <a:rPr lang="en-US" sz="2400" baseline="0" dirty="0" smtClean="0"/>
              <a:t>MGP is the inhibitor</a:t>
            </a:r>
          </a:p>
          <a:p>
            <a:pPr marL="438912" lvl="0" indent="-320040">
              <a:buClr>
                <a:schemeClr val="accent1"/>
              </a:buClr>
              <a:buSzPct val="80000"/>
              <a:buFont typeface="Wingdings 2"/>
              <a:buChar char=""/>
              <a:defRPr/>
            </a:pPr>
            <a:r>
              <a:rPr lang="en-US" sz="2400" dirty="0" smtClean="0"/>
              <a:t>BMP-2 is expected to diffuse more slowly than MGP</a:t>
            </a:r>
            <a:endParaRPr lang="en-US" sz="2400" baseline="0" dirty="0" smtClean="0"/>
          </a:p>
          <a:p>
            <a:pPr marL="438912" marR="0" lvl="0" indent="-32004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tabLst/>
              <a:defRPr/>
            </a:pP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 txBox="1">
            <a:spLocks/>
          </p:cNvSpPr>
          <p:nvPr/>
        </p:nvSpPr>
        <p:spPr>
          <a:xfrm>
            <a:off x="762000" y="1905000"/>
            <a:ext cx="7620000" cy="4343400"/>
          </a:xfrm>
          <a:prstGeom prst="rect">
            <a:avLst/>
          </a:prstGeom>
        </p:spPr>
        <p:txBody>
          <a:bodyPr/>
          <a:lstStyle/>
          <a:p>
            <a:pPr marL="438912" marR="0" lvl="0" indent="-32004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2"/>
              <a:buChar char=""/>
              <a:tabLst/>
              <a:defRPr/>
            </a:pPr>
            <a:r>
              <a:rPr kumimoji="0" lang="en-US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Other models</a:t>
            </a:r>
            <a:r>
              <a:rPr kumimoji="0" lang="en-US" sz="32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formed angiogenesis, blood coagulation, bone, and tooth formation</a:t>
            </a:r>
          </a:p>
          <a:p>
            <a:pPr marL="438912" marR="0" lvl="0" indent="-32004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2"/>
              <a:buChar char=""/>
              <a:tabLst/>
              <a:defRPr/>
            </a:pPr>
            <a:r>
              <a:rPr lang="en-US" sz="3200" dirty="0" smtClean="0"/>
              <a:t>Obstacle to modeling patterns in physiology is identifying the activator and inhibitor that is involved in the patterns</a:t>
            </a:r>
            <a:endParaRPr kumimoji="0" lang="en-US" sz="3200" b="0" i="0" u="none" strike="noStrike" kern="1200" cap="none" spc="0" normalizeH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438912" marR="0" lvl="0" indent="-32004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2"/>
              <a:buChar char=""/>
              <a:tabLst/>
              <a:defRPr/>
            </a:pP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0" y="155575"/>
            <a:ext cx="8229600" cy="1252538"/>
          </a:xfrm>
          <a:prstGeom prst="rect">
            <a:avLst/>
          </a:prstGeom>
        </p:spPr>
        <p:txBody>
          <a:bodyPr vert="horz" lIns="91440" rIns="45720" rtlCol="0" anchor="ctr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5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accent1">
                    <a:satMod val="150000"/>
                  </a:schemeClr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Summary</a:t>
            </a:r>
            <a:endParaRPr kumimoji="0" lang="en-US" sz="4500" b="1" i="0" u="none" strike="noStrike" kern="1200" cap="none" spc="0" normalizeH="0" baseline="0" noProof="0" dirty="0">
              <a:ln>
                <a:noFill/>
              </a:ln>
              <a:solidFill>
                <a:schemeClr val="accent1">
                  <a:satMod val="150000"/>
                </a:schemeClr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0" y="155575"/>
            <a:ext cx="8229600" cy="1252538"/>
          </a:xfrm>
        </p:spPr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09600" y="1600200"/>
            <a:ext cx="830580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AutoNum type="arabicPeriod"/>
            </a:pPr>
            <a:r>
              <a:rPr lang="en-US" dirty="0" smtClean="0"/>
              <a:t>Murray, J.D. (2003). Mathematical Biology II: Spatial Models and Biomedical Applications. Springer-</a:t>
            </a:r>
            <a:r>
              <a:rPr lang="en-US" dirty="0" err="1" smtClean="0"/>
              <a:t>Verlag</a:t>
            </a:r>
            <a:r>
              <a:rPr lang="en-US" dirty="0" smtClean="0"/>
              <a:t>, Berlin</a:t>
            </a:r>
          </a:p>
          <a:p>
            <a:pPr marL="342900" indent="-342900">
              <a:buAutoNum type="arabicPeriod"/>
            </a:pPr>
            <a:r>
              <a:rPr lang="en-US" dirty="0" err="1" smtClean="0"/>
              <a:t>Garfinkel</a:t>
            </a:r>
            <a:r>
              <a:rPr lang="en-US" dirty="0" smtClean="0"/>
              <a:t> A, </a:t>
            </a:r>
            <a:r>
              <a:rPr lang="en-US" dirty="0" err="1" smtClean="0"/>
              <a:t>Tintut</a:t>
            </a:r>
            <a:r>
              <a:rPr lang="en-US" dirty="0" smtClean="0"/>
              <a:t> Y, </a:t>
            </a:r>
            <a:r>
              <a:rPr lang="en-US" dirty="0" err="1" smtClean="0"/>
              <a:t>Petrasek</a:t>
            </a:r>
            <a:r>
              <a:rPr lang="en-US" dirty="0" smtClean="0"/>
              <a:t> D, </a:t>
            </a:r>
            <a:r>
              <a:rPr lang="en-US" dirty="0" err="1" smtClean="0"/>
              <a:t>Bostrom</a:t>
            </a:r>
            <a:r>
              <a:rPr lang="en-US" dirty="0" smtClean="0"/>
              <a:t> K, &amp; </a:t>
            </a:r>
            <a:r>
              <a:rPr lang="en-US" dirty="0" err="1" smtClean="0"/>
              <a:t>Demer</a:t>
            </a:r>
            <a:r>
              <a:rPr lang="en-US" dirty="0" smtClean="0"/>
              <a:t> LL (2004) Pattern formation by vascular </a:t>
            </a:r>
            <a:r>
              <a:rPr lang="en-US" dirty="0" err="1" smtClean="0"/>
              <a:t>mesenchymal</a:t>
            </a:r>
            <a:r>
              <a:rPr lang="en-US" dirty="0" smtClean="0"/>
              <a:t> cells. </a:t>
            </a:r>
            <a:r>
              <a:rPr lang="en-US" i="1" dirty="0" smtClean="0"/>
              <a:t>Proceedings of the National Academy of Sciences of the United States of America</a:t>
            </a:r>
            <a:r>
              <a:rPr lang="en-US" dirty="0" smtClean="0"/>
              <a:t> 101(25):9247-9250.</a:t>
            </a:r>
          </a:p>
          <a:p>
            <a:pPr marL="342900" indent="-342900" algn="just">
              <a:buAutoNum type="arabicPeriod" startAt="3"/>
            </a:pPr>
            <a:r>
              <a:rPr lang="en-US" dirty="0" err="1" smtClean="0"/>
              <a:t>Meinhardt</a:t>
            </a:r>
            <a:r>
              <a:rPr lang="en-US" dirty="0" smtClean="0"/>
              <a:t> H, AJ Koch (1994) Biological Pattern Formation: From basic mechanism to  complex structures </a:t>
            </a:r>
            <a:r>
              <a:rPr lang="en-US" i="1" dirty="0" smtClean="0"/>
              <a:t>Reviews of Modern Physics</a:t>
            </a:r>
            <a:r>
              <a:rPr lang="en-US" dirty="0" smtClean="0"/>
              <a:t> 66(4).</a:t>
            </a:r>
          </a:p>
          <a:p>
            <a:pPr algn="just"/>
            <a:r>
              <a:rPr lang="en-US" dirty="0" smtClean="0"/>
              <a:t>4.  Turing AM (1990) The chemical basis of morphogenesis. 1953. </a:t>
            </a:r>
            <a:r>
              <a:rPr lang="en-US" i="1" dirty="0" smtClean="0"/>
              <a:t>Bulletin of   </a:t>
            </a:r>
          </a:p>
          <a:p>
            <a:pPr algn="just"/>
            <a:r>
              <a:rPr lang="en-US" i="1" dirty="0" smtClean="0"/>
              <a:t>       mathematical biology</a:t>
            </a:r>
            <a:r>
              <a:rPr lang="en-US" dirty="0" smtClean="0"/>
              <a:t> 52(1-2):153-197; discussion 119-152.</a:t>
            </a:r>
          </a:p>
          <a:p>
            <a:pPr algn="just"/>
            <a:r>
              <a:rPr lang="en-US" dirty="0" smtClean="0"/>
              <a:t>5.    </a:t>
            </a:r>
            <a:r>
              <a:rPr lang="en-US" dirty="0" err="1" smtClean="0"/>
              <a:t>Leppanen</a:t>
            </a:r>
            <a:r>
              <a:rPr lang="en-US" dirty="0" smtClean="0"/>
              <a:t> T (2004) Computational Studies of Pattern Formation in Turing Systems.   </a:t>
            </a:r>
          </a:p>
          <a:p>
            <a:pPr algn="just"/>
            <a:r>
              <a:rPr lang="en-US" dirty="0" smtClean="0"/>
              <a:t>        (Helsinki University  of Technology).</a:t>
            </a:r>
          </a:p>
          <a:p>
            <a:pPr algn="just"/>
            <a:r>
              <a:rPr lang="en-US" dirty="0" smtClean="0"/>
              <a:t> </a:t>
            </a:r>
          </a:p>
          <a:p>
            <a:pPr marL="342900" indent="-342900">
              <a:buAutoNum type="arabicPeriod"/>
            </a:pPr>
            <a:endParaRPr lang="en-US" dirty="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odule">
  <a:themeElements>
    <a:clrScheme name="Foundry">
      <a:dk1>
        <a:sysClr val="windowText" lastClr="000000"/>
      </a:dk1>
      <a:lt1>
        <a:sysClr val="window" lastClr="FFFFFF"/>
      </a:lt1>
      <a:dk2>
        <a:srgbClr val="676A55"/>
      </a:dk2>
      <a:lt2>
        <a:srgbClr val="EAEBDE"/>
      </a:lt2>
      <a:accent1>
        <a:srgbClr val="72A376"/>
      </a:accent1>
      <a:accent2>
        <a:srgbClr val="B0CCB0"/>
      </a:accent2>
      <a:accent3>
        <a:srgbClr val="A8CDD7"/>
      </a:accent3>
      <a:accent4>
        <a:srgbClr val="C0BEAF"/>
      </a:accent4>
      <a:accent5>
        <a:srgbClr val="CEC597"/>
      </a:accent5>
      <a:accent6>
        <a:srgbClr val="E8B7B7"/>
      </a:accent6>
      <a:hlink>
        <a:srgbClr val="DB5353"/>
      </a:hlink>
      <a:folHlink>
        <a:srgbClr val="903638"/>
      </a:folHlink>
    </a:clrScheme>
    <a:fontScheme name="Module">
      <a:majorFont>
        <a:latin typeface="Corbel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Corbel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Modul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47500"/>
                <a:satMod val="137000"/>
              </a:schemeClr>
            </a:gs>
            <a:gs pos="55000">
              <a:schemeClr val="phClr">
                <a:shade val="69000"/>
                <a:satMod val="137000"/>
              </a:schemeClr>
            </a:gs>
            <a:gs pos="100000">
              <a:schemeClr val="phClr">
                <a:shade val="98000"/>
                <a:satMod val="137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 fov="0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300000"/>
              </a:schemeClr>
            </a:gs>
            <a:gs pos="12000">
              <a:schemeClr val="phClr">
                <a:tint val="48000"/>
                <a:satMod val="300000"/>
              </a:schemeClr>
            </a:gs>
            <a:gs pos="20000">
              <a:schemeClr val="phClr">
                <a:tint val="49000"/>
                <a:satMod val="30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10000" t="-25000" r="10000" b="125000"/>
          </a:path>
        </a:gradFill>
        <a:blipFill>
          <a:blip xmlns:r="http://schemas.openxmlformats.org/officeDocument/2006/relationships" r:embed="rId1">
            <a:duotone>
              <a:schemeClr val="phClr">
                <a:shade val="75000"/>
                <a:satMod val="105000"/>
              </a:schemeClr>
              <a:schemeClr val="phClr">
                <a:tint val="95000"/>
                <a:satMod val="105000"/>
              </a:schemeClr>
            </a:duotone>
          </a:blip>
          <a:tile tx="0" ty="0" sx="38000" sy="38000" flip="none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Module</Template>
  <TotalTime>1217</TotalTime>
  <Words>679</Words>
  <Application>Microsoft Office PowerPoint</Application>
  <PresentationFormat>On-screen Show (4:3)</PresentationFormat>
  <Paragraphs>83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Corbel</vt:lpstr>
      <vt:lpstr>Wingdings</vt:lpstr>
      <vt:lpstr>Wingdings 2</vt:lpstr>
      <vt:lpstr>Wingdings 3</vt:lpstr>
      <vt:lpstr>Module</vt:lpstr>
      <vt:lpstr>The reaction-diffusion system: a mechanism for autonomous pattern formation in the animal skin</vt:lpstr>
      <vt:lpstr>Background</vt:lpstr>
      <vt:lpstr>Background</vt:lpstr>
      <vt:lpstr>Morphogenesis</vt:lpstr>
      <vt:lpstr>Example  Cont’d</vt:lpstr>
      <vt:lpstr>Background</vt:lpstr>
      <vt:lpstr>PowerPoint Presentation</vt:lpstr>
      <vt:lpstr>Background</vt:lpstr>
      <vt:lpstr>Background</vt:lpstr>
      <vt:lpstr>Morhogenesis</vt:lpstr>
      <vt:lpstr>MODEL</vt:lpstr>
      <vt:lpstr>MODEL</vt:lpstr>
      <vt:lpstr>MODEL</vt:lpstr>
      <vt:lpstr>Example : Vascular Mesenchymal Cells</vt:lpstr>
      <vt:lpstr>VMC’S</vt:lpstr>
      <vt:lpstr>Morhogenesis</vt:lpstr>
      <vt:lpstr>PowerPoint Presentation</vt:lpstr>
      <vt:lpstr>References</vt:lpstr>
    </vt:vector>
  </TitlesOfParts>
  <Company> 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Biological Pattern Formation</dc:title>
  <dc:creator>Saumya Puthenveettil</dc:creator>
  <cp:lastModifiedBy>Saumya Puthenveettil</cp:lastModifiedBy>
  <cp:revision>121</cp:revision>
  <dcterms:created xsi:type="dcterms:W3CDTF">2012-03-23T01:24:19Z</dcterms:created>
  <dcterms:modified xsi:type="dcterms:W3CDTF">2019-09-28T07:08:37Z</dcterms:modified>
</cp:coreProperties>
</file>