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71" r:id="rId4"/>
    <p:sldId id="267" r:id="rId5"/>
    <p:sldId id="263" r:id="rId6"/>
    <p:sldId id="259" r:id="rId7"/>
    <p:sldId id="272" r:id="rId8"/>
    <p:sldId id="258" r:id="rId9"/>
    <p:sldId id="261" r:id="rId10"/>
    <p:sldId id="260" r:id="rId11"/>
    <p:sldId id="268" r:id="rId12"/>
    <p:sldId id="269" r:id="rId13"/>
    <p:sldId id="265" r:id="rId14"/>
    <p:sldId id="264" r:id="rId15"/>
    <p:sldId id="273" r:id="rId16"/>
    <p:sldId id="266" r:id="rId17"/>
    <p:sldId id="274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5" autoAdjust="0"/>
    <p:restoredTop sz="94647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2B6-4737-4932-8B97-3BA0658A98F9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E33F-685C-4A88-A42C-47513503AE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2B6-4737-4932-8B97-3BA0658A98F9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E33F-685C-4A88-A42C-47513503AE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2B6-4737-4932-8B97-3BA0658A98F9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E33F-685C-4A88-A42C-47513503AE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2B6-4737-4932-8B97-3BA0658A98F9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E33F-685C-4A88-A42C-47513503AE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2B6-4737-4932-8B97-3BA0658A98F9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E33F-685C-4A88-A42C-47513503AE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2B6-4737-4932-8B97-3BA0658A98F9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E33F-685C-4A88-A42C-47513503AE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2B6-4737-4932-8B97-3BA0658A98F9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E33F-685C-4A88-A42C-47513503AE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2B6-4737-4932-8B97-3BA0658A98F9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E33F-685C-4A88-A42C-47513503AE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9E13B2B6-4737-4932-8B97-3BA0658A98F9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8481E33F-685C-4A88-A42C-47513503AE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2B6-4737-4932-8B97-3BA0658A98F9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E33F-685C-4A88-A42C-47513503AE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2B6-4737-4932-8B97-3BA0658A98F9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E33F-685C-4A88-A42C-47513503AE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9E13B2B6-4737-4932-8B97-3BA0658A98F9}" type="datetimeFigureOut">
              <a:rPr lang="en-US" smtClean="0"/>
              <a:pPr/>
              <a:t>9/28/2019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8481E33F-685C-4A88-A42C-47513503AEF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381000" y="5334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reaction-diffusion system: a mechanism for autonomous pattern formation in the animal skin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533400" y="4343400"/>
            <a:ext cx="8077200" cy="1500188"/>
          </a:xfrm>
        </p:spPr>
        <p:txBody>
          <a:bodyPr>
            <a:normAutofit/>
          </a:bodyPr>
          <a:lstStyle/>
          <a:p>
            <a:r>
              <a:rPr lang="en-US" sz="2600" dirty="0" smtClean="0"/>
              <a:t>March 27, 2012</a:t>
            </a:r>
          </a:p>
          <a:p>
            <a:r>
              <a:rPr lang="en-US" sz="2600" dirty="0" smtClean="0"/>
              <a:t>Foundations of Mathematical Biology –MATH 637</a:t>
            </a:r>
          </a:p>
          <a:p>
            <a:r>
              <a:rPr lang="en-US" sz="2600" dirty="0" smtClean="0"/>
              <a:t>Saumya Puthenveettil</a:t>
            </a:r>
            <a:endParaRPr lang="en-US" sz="26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04800" y="2438400"/>
            <a:ext cx="8610600" cy="1500188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marL="438912" marR="0" lvl="0" indent="-32004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Shigeru Kondo</a:t>
            </a:r>
          </a:p>
          <a:p>
            <a:pPr marL="438912" marR="0" lvl="0" indent="-32004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lang="en-US" sz="2600" dirty="0" smtClean="0"/>
              <a:t>Genes to Cells, 2002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001000" cy="4797552"/>
          </a:xfrm>
        </p:spPr>
        <p:txBody>
          <a:bodyPr>
            <a:normAutofit/>
          </a:bodyPr>
          <a:lstStyle/>
          <a:p>
            <a:r>
              <a:rPr lang="en-US" dirty="0" smtClean="0"/>
              <a:t>Reaction-Diffusion (RD) system can form spatial patterns (Turing 1952)</a:t>
            </a:r>
          </a:p>
          <a:p>
            <a:r>
              <a:rPr lang="en-US" dirty="0" smtClean="0"/>
              <a:t>RD system forms periodic patterns</a:t>
            </a:r>
          </a:p>
          <a:p>
            <a:r>
              <a:rPr lang="en-US" dirty="0" smtClean="0"/>
              <a:t>Two chemical substances interact with one another, with different diffusion rates (activator and inhibitor)</a:t>
            </a:r>
          </a:p>
          <a:p>
            <a:r>
              <a:rPr lang="en-US" dirty="0" smtClean="0"/>
              <a:t>Turing believed this may provide information about the development of an embryo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Morphogen</a:t>
            </a:r>
            <a:r>
              <a:rPr lang="en-US" dirty="0" smtClean="0"/>
              <a:t>: substance that controls tissue development</a:t>
            </a:r>
          </a:p>
          <a:p>
            <a:r>
              <a:rPr lang="en-US" dirty="0" smtClean="0"/>
              <a:t>Assumed that genes act merely as catalysts for spontaneous chemical reactions which regulate the production of </a:t>
            </a:r>
            <a:r>
              <a:rPr lang="en-US" dirty="0" err="1" smtClean="0"/>
              <a:t>morphogens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Cells differentiate as a result of </a:t>
            </a:r>
            <a:r>
              <a:rPr lang="en-US" dirty="0" err="1" smtClean="0"/>
              <a:t>morphogen</a:t>
            </a:r>
            <a:r>
              <a:rPr lang="en-US" dirty="0" smtClean="0"/>
              <a:t> concentrations</a:t>
            </a:r>
          </a:p>
          <a:p>
            <a:r>
              <a:rPr lang="en-US" dirty="0" smtClean="0"/>
              <a:t>Morphogenesis : development of shape or form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Morphogenesis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 initial conditions can cause spontaneous spreading and reacting of chemicals</a:t>
            </a:r>
          </a:p>
          <a:p>
            <a:r>
              <a:rPr lang="en-US" dirty="0" smtClean="0"/>
              <a:t>Turing stated cells differentiate according to </a:t>
            </a:r>
            <a:r>
              <a:rPr lang="en-US" dirty="0" err="1" smtClean="0"/>
              <a:t>morphogen</a:t>
            </a:r>
            <a:r>
              <a:rPr lang="en-US" dirty="0" smtClean="0"/>
              <a:t> concentration</a:t>
            </a:r>
          </a:p>
          <a:p>
            <a:r>
              <a:rPr lang="en-US" dirty="0" smtClean="0"/>
              <a:t>Activator and inhibitor diffuse into neighboring cells due to concentration gradient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Question: How can a spherical  egg become an organism such as a horse or human?</a:t>
            </a:r>
          </a:p>
          <a:p>
            <a:r>
              <a:rPr lang="en-US" dirty="0" smtClean="0"/>
              <a:t>“ It is important that there are some deviations, for the system may reach a state of instability in which these irregularities tend to grow”</a:t>
            </a:r>
          </a:p>
          <a:p>
            <a:r>
              <a:rPr lang="en-US" dirty="0" smtClean="0"/>
              <a:t>Without instability, the egg will stay in its spherical state forever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1000" y="152400"/>
            <a:ext cx="8229600" cy="1252538"/>
          </a:xfrm>
        </p:spPr>
        <p:txBody>
          <a:bodyPr>
            <a:normAutofit/>
          </a:bodyPr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219200"/>
            <a:ext cx="7848600" cy="5254752"/>
          </a:xfrm>
          <a:prstGeom prst="rect">
            <a:avLst/>
          </a:prstGeom>
        </p:spPr>
        <p:txBody>
          <a:bodyPr/>
          <a:lstStyle/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3200" dirty="0" smtClean="0"/>
              <a:t>RD reaction – in the presence of diffusion leads to instability ( Turing bifurcation leads to patterns)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3200" dirty="0" smtClean="0"/>
              <a:t>The pace of diffusions (unequal) causes instability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3200" dirty="0" smtClean="0"/>
              <a:t>RD reactions are a simplification of the actual processes occurring between cells (mechanical/electrical)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3200" dirty="0" smtClean="0"/>
              <a:t>Missionaries and Cannibals  example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endParaRPr lang="en-US" sz="3200" baseline="0" dirty="0" smtClean="0"/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609600" y="533400"/>
            <a:ext cx="7848600" cy="5254752"/>
          </a:xfrm>
          <a:prstGeom prst="rect">
            <a:avLst/>
          </a:prstGeom>
        </p:spPr>
        <p:txBody>
          <a:bodyPr/>
          <a:lstStyle/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lang="en-US" sz="3200" baseline="0" dirty="0" smtClean="0"/>
              <a:t>Diffusion=movement</a:t>
            </a:r>
            <a:r>
              <a:rPr lang="en-US" sz="3200" dirty="0" smtClean="0"/>
              <a:t> of cannibals and missionaries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lang="en-US" sz="3200" dirty="0" smtClean="0"/>
              <a:t>Cannibal dominance one color, Missionary dominance another color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lang="en-US" sz="3200" baseline="0" dirty="0" smtClean="0"/>
              <a:t>RD</a:t>
            </a:r>
            <a:r>
              <a:rPr lang="en-US" sz="3200" dirty="0" smtClean="0"/>
              <a:t> kept out of equilibrium by fresh chemicals continuously fed into system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lang="en-US" sz="3200" baseline="0" dirty="0" smtClean="0"/>
              <a:t>Once</a:t>
            </a:r>
            <a:r>
              <a:rPr lang="en-US" sz="3200" dirty="0" smtClean="0"/>
              <a:t> fresh chemicals start, system returns  to equilibrium</a:t>
            </a:r>
            <a:endParaRPr lang="en-US" sz="3200" baseline="0" dirty="0" smtClean="0"/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5575"/>
            <a:ext cx="8229600" cy="1252538"/>
          </a:xfrm>
        </p:spPr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774825"/>
            <a:ext cx="8229600" cy="4625975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219200"/>
            <a:ext cx="466271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1752600"/>
            <a:ext cx="3648357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609600" y="1828800"/>
            <a:ext cx="3733800" cy="4645152"/>
          </a:xfrm>
          <a:prstGeom prst="rect">
            <a:avLst/>
          </a:prstGeom>
        </p:spPr>
        <p:txBody>
          <a:bodyPr/>
          <a:lstStyle/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2400" dirty="0" smtClean="0"/>
              <a:t>Skin pattern preferred over embryo for experimental testing of RD system since its noninvasive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2400" noProof="0" dirty="0" smtClean="0"/>
              <a:t>In mammals RD mechanism inactive, in fish it is active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Morphogenesis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0" y="1447800"/>
            <a:ext cx="8229600" cy="1752600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sz="3200" dirty="0" smtClean="0"/>
              <a:t>D</a:t>
            </a:r>
            <a:r>
              <a:rPr lang="en-US" sz="3200" baseline="-25000" dirty="0" smtClean="0"/>
              <a:t>B</a:t>
            </a:r>
            <a:r>
              <a:rPr lang="en-US" sz="3200" dirty="0" smtClean="0"/>
              <a:t>&gt;D</a:t>
            </a:r>
            <a:r>
              <a:rPr lang="en-US" sz="3200" baseline="-25000" dirty="0" smtClean="0"/>
              <a:t>A</a:t>
            </a:r>
            <a:endParaRPr lang="en-US" sz="3200" dirty="0" smtClean="0"/>
          </a:p>
          <a:p>
            <a:pPr marL="438912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sz="3200" dirty="0" smtClean="0"/>
              <a:t>Reaction and Diffusion Equations for activator and inhibitor 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5029200"/>
            <a:ext cx="352425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3429000"/>
            <a:ext cx="2647950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Suppose:</a:t>
            </a:r>
          </a:p>
          <a:p>
            <a:r>
              <a:rPr lang="en-US" dirty="0" smtClean="0"/>
              <a:t>∂u/ ∂t= 0.6u-v-u</a:t>
            </a:r>
            <a:r>
              <a:rPr lang="en-US" baseline="30000" dirty="0" smtClean="0"/>
              <a:t>3</a:t>
            </a:r>
            <a:r>
              <a:rPr lang="en-US" dirty="0" smtClean="0"/>
              <a:t> +0.0002 ∂</a:t>
            </a:r>
            <a:r>
              <a:rPr lang="en-US" baseline="30000" dirty="0" smtClean="0"/>
              <a:t>2</a:t>
            </a:r>
            <a:r>
              <a:rPr lang="en-US" dirty="0" smtClean="0"/>
              <a:t>u/ ∂x</a:t>
            </a:r>
            <a:r>
              <a:rPr lang="en-US" baseline="30000" dirty="0" smtClean="0"/>
              <a:t>2</a:t>
            </a:r>
          </a:p>
          <a:p>
            <a:r>
              <a:rPr lang="en-US" dirty="0" smtClean="0"/>
              <a:t>∂v/ ∂t= 1.5u-2v +0.01 ∂</a:t>
            </a:r>
            <a:r>
              <a:rPr lang="en-US" baseline="30000" dirty="0" smtClean="0"/>
              <a:t>2</a:t>
            </a:r>
            <a:r>
              <a:rPr lang="en-US" dirty="0" smtClean="0"/>
              <a:t>v/ ∂x</a:t>
            </a:r>
            <a:r>
              <a:rPr lang="en-US" baseline="30000" dirty="0" smtClean="0"/>
              <a:t>2</a:t>
            </a:r>
          </a:p>
          <a:p>
            <a:endParaRPr lang="en-US" baseline="30000" dirty="0" smtClean="0"/>
          </a:p>
          <a:p>
            <a:r>
              <a:rPr lang="en-US" dirty="0" smtClean="0"/>
              <a:t>Activator and Inhibitor interact in each element</a:t>
            </a:r>
          </a:p>
          <a:p>
            <a:r>
              <a:rPr lang="en-US" dirty="0" smtClean="0"/>
              <a:t>Activator and Inhibitor interact with their neighboring elements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5023" y="2115849"/>
            <a:ext cx="6126377" cy="428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5575"/>
            <a:ext cx="8229600" cy="1252538"/>
          </a:xfrm>
        </p:spPr>
        <p:txBody>
          <a:bodyPr/>
          <a:lstStyle/>
          <a:p>
            <a:r>
              <a:rPr lang="en-US" dirty="0" smtClean="0"/>
              <a:t>MODEL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828800"/>
            <a:ext cx="5229225" cy="4077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676400" y="1371600"/>
            <a:ext cx="502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Activator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 : Vascular </a:t>
            </a:r>
            <a:r>
              <a:rPr lang="en-US" dirty="0" err="1" smtClean="0"/>
              <a:t>Mesenchymal</a:t>
            </a:r>
            <a:r>
              <a:rPr lang="en-US" dirty="0" smtClean="0"/>
              <a:t> Cells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an embryo, </a:t>
            </a:r>
            <a:r>
              <a:rPr lang="en-US" dirty="0" err="1" smtClean="0"/>
              <a:t>mesenchymal</a:t>
            </a:r>
            <a:r>
              <a:rPr lang="en-US" dirty="0" smtClean="0"/>
              <a:t> cells organize into different shapes and sizes to form patterns of tissues ( ribs, vertebrae)</a:t>
            </a:r>
          </a:p>
          <a:p>
            <a:r>
              <a:rPr lang="en-US" dirty="0" smtClean="0"/>
              <a:t>VMC’s differentiate into other cell types</a:t>
            </a:r>
          </a:p>
          <a:p>
            <a:r>
              <a:rPr lang="en-US" dirty="0" smtClean="0"/>
              <a:t>Resulting tissue forms patterns</a:t>
            </a:r>
          </a:p>
          <a:p>
            <a:r>
              <a:rPr lang="en-US" dirty="0" smtClean="0"/>
              <a:t>When culturing VMCs there is no pattern</a:t>
            </a:r>
          </a:p>
          <a:p>
            <a:r>
              <a:rPr lang="en-US" dirty="0" smtClean="0"/>
              <a:t>After ~20 days, the cells spread and organize into patterns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VMC’S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Day 1: VMC’s show no pattern – scattered (a)</a:t>
            </a:r>
          </a:p>
          <a:p>
            <a:r>
              <a:rPr lang="en-US" dirty="0" smtClean="0"/>
              <a:t>Day 4: VMC’s align with neighbors into “swirls” (b)</a:t>
            </a:r>
          </a:p>
          <a:p>
            <a:r>
              <a:rPr lang="en-US" dirty="0" smtClean="0"/>
              <a:t>Day 10, cells aggregate </a:t>
            </a:r>
            <a:r>
              <a:rPr lang="en-US" smtClean="0"/>
              <a:t>into stripe-like </a:t>
            </a:r>
            <a:r>
              <a:rPr lang="en-US" dirty="0" smtClean="0"/>
              <a:t>ridge pattern(c)</a:t>
            </a:r>
          </a:p>
          <a:p>
            <a:r>
              <a:rPr lang="en-US" dirty="0" smtClean="0"/>
              <a:t>Several days, ridges connect (d)</a:t>
            </a:r>
          </a:p>
          <a:p>
            <a:r>
              <a:rPr lang="en-US" dirty="0" smtClean="0"/>
              <a:t>Cells reorient themselves suggesting </a:t>
            </a:r>
            <a:r>
              <a:rPr lang="en-US" dirty="0" err="1" smtClean="0"/>
              <a:t>chemotaxic</a:t>
            </a:r>
            <a:r>
              <a:rPr lang="en-US" dirty="0" smtClean="0"/>
              <a:t> migration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Morphogenesis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524000"/>
            <a:ext cx="4114800" cy="2209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3962400"/>
            <a:ext cx="4210050" cy="2447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609600" y="1828800"/>
            <a:ext cx="3733800" cy="4645152"/>
          </a:xfrm>
          <a:prstGeom prst="rect">
            <a:avLst/>
          </a:prstGeom>
        </p:spPr>
        <p:txBody>
          <a:bodyPr/>
          <a:lstStyle/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2400" dirty="0" smtClean="0"/>
              <a:t>In VMC’s BMP-2 is a powerful </a:t>
            </a:r>
            <a:r>
              <a:rPr lang="en-US" sz="2400" dirty="0" err="1" smtClean="0"/>
              <a:t>morphogen</a:t>
            </a:r>
            <a:r>
              <a:rPr lang="en-US" sz="2400" dirty="0" smtClean="0"/>
              <a:t> and </a:t>
            </a:r>
            <a:r>
              <a:rPr lang="en-US" sz="2400" dirty="0" err="1" smtClean="0"/>
              <a:t>chemoattractant</a:t>
            </a:r>
            <a:endParaRPr lang="en-US" sz="2400" dirty="0" smtClean="0"/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2400" baseline="0" dirty="0" smtClean="0"/>
              <a:t>MGP is the inhibitor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2400" dirty="0" smtClean="0"/>
              <a:t>BMP-2 is expected to diffuse more slowly than MGP</a:t>
            </a:r>
            <a:endParaRPr lang="en-US" sz="2400" baseline="0" dirty="0" smtClean="0"/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762000" y="1905000"/>
            <a:ext cx="7620000" cy="4343400"/>
          </a:xfrm>
          <a:prstGeom prst="rect">
            <a:avLst/>
          </a:prstGeom>
        </p:spPr>
        <p:txBody>
          <a:bodyPr/>
          <a:lstStyle/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Other models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formed angiogenesis, blood coagulation, bone, and tooth formation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lang="en-US" sz="3200" dirty="0" smtClean="0"/>
              <a:t>Obstacle to modeling patterns in physiology is identifying the activator and inhibitor that is involved in the patterns</a:t>
            </a:r>
            <a:endParaRPr kumimoji="0" lang="en-US" sz="32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55575"/>
            <a:ext cx="8229600" cy="1252538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satMod val="1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Summary</a:t>
            </a:r>
            <a:endParaRPr kumimoji="0" lang="en-US" sz="45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satMod val="1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5575"/>
            <a:ext cx="8229600" cy="1252538"/>
          </a:xfrm>
        </p:spPr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1600200"/>
            <a:ext cx="8305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dirty="0" smtClean="0"/>
              <a:t>Murray, J.D. (2003). Mathematical Biology II: Spatial Models and Biomedical Applications. Springer-</a:t>
            </a:r>
            <a:r>
              <a:rPr lang="en-US" dirty="0" err="1" smtClean="0"/>
              <a:t>Verlag</a:t>
            </a:r>
            <a:r>
              <a:rPr lang="en-US" dirty="0" smtClean="0"/>
              <a:t>, Berlin</a:t>
            </a:r>
          </a:p>
          <a:p>
            <a:pPr marL="342900" indent="-342900">
              <a:buAutoNum type="arabicPeriod"/>
            </a:pPr>
            <a:r>
              <a:rPr lang="en-US" dirty="0" err="1" smtClean="0"/>
              <a:t>Garfinkel</a:t>
            </a:r>
            <a:r>
              <a:rPr lang="en-US" dirty="0" smtClean="0"/>
              <a:t> A, </a:t>
            </a:r>
            <a:r>
              <a:rPr lang="en-US" dirty="0" err="1" smtClean="0"/>
              <a:t>Tintut</a:t>
            </a:r>
            <a:r>
              <a:rPr lang="en-US" dirty="0" smtClean="0"/>
              <a:t> Y, </a:t>
            </a:r>
            <a:r>
              <a:rPr lang="en-US" dirty="0" err="1" smtClean="0"/>
              <a:t>Petrasek</a:t>
            </a:r>
            <a:r>
              <a:rPr lang="en-US" dirty="0" smtClean="0"/>
              <a:t> D, </a:t>
            </a:r>
            <a:r>
              <a:rPr lang="en-US" dirty="0" err="1" smtClean="0"/>
              <a:t>Bostrom</a:t>
            </a:r>
            <a:r>
              <a:rPr lang="en-US" dirty="0" smtClean="0"/>
              <a:t> K, &amp; </a:t>
            </a:r>
            <a:r>
              <a:rPr lang="en-US" dirty="0" err="1" smtClean="0"/>
              <a:t>Demer</a:t>
            </a:r>
            <a:r>
              <a:rPr lang="en-US" dirty="0" smtClean="0"/>
              <a:t> LL (2004) Pattern formation by vascular </a:t>
            </a:r>
            <a:r>
              <a:rPr lang="en-US" dirty="0" err="1" smtClean="0"/>
              <a:t>mesenchymal</a:t>
            </a:r>
            <a:r>
              <a:rPr lang="en-US" dirty="0" smtClean="0"/>
              <a:t> cells. </a:t>
            </a:r>
            <a:r>
              <a:rPr lang="en-US" i="1" dirty="0" smtClean="0"/>
              <a:t>Proceedings of the National Academy of Sciences of the United States of America</a:t>
            </a:r>
            <a:r>
              <a:rPr lang="en-US" dirty="0" smtClean="0"/>
              <a:t> 101(25):9247-9250.</a:t>
            </a:r>
          </a:p>
          <a:p>
            <a:pPr marL="342900" indent="-342900" algn="just">
              <a:buAutoNum type="arabicPeriod" startAt="3"/>
            </a:pPr>
            <a:r>
              <a:rPr lang="en-US" dirty="0" err="1" smtClean="0"/>
              <a:t>Meinhardt</a:t>
            </a:r>
            <a:r>
              <a:rPr lang="en-US" dirty="0" smtClean="0"/>
              <a:t> H, AJ Koch (1994) Biological Pattern Formation: From basic mechanism to  complex structures </a:t>
            </a:r>
            <a:r>
              <a:rPr lang="en-US" i="1" dirty="0" smtClean="0"/>
              <a:t>Reviews of Modern Physics</a:t>
            </a:r>
            <a:r>
              <a:rPr lang="en-US" dirty="0" smtClean="0"/>
              <a:t> 66(4).</a:t>
            </a:r>
          </a:p>
          <a:p>
            <a:pPr algn="just"/>
            <a:r>
              <a:rPr lang="en-US" dirty="0" smtClean="0"/>
              <a:t>4.  Turing AM (1990) The chemical basis of morphogenesis. 1953. </a:t>
            </a:r>
            <a:r>
              <a:rPr lang="en-US" i="1" dirty="0" smtClean="0"/>
              <a:t>Bulletin of   </a:t>
            </a:r>
          </a:p>
          <a:p>
            <a:pPr algn="just"/>
            <a:r>
              <a:rPr lang="en-US" i="1" dirty="0" smtClean="0"/>
              <a:t>       mathematical biology</a:t>
            </a:r>
            <a:r>
              <a:rPr lang="en-US" dirty="0" smtClean="0"/>
              <a:t> 52(1-2):153-197; discussion 119-152.</a:t>
            </a:r>
          </a:p>
          <a:p>
            <a:pPr algn="just"/>
            <a:r>
              <a:rPr lang="en-US" dirty="0" smtClean="0"/>
              <a:t>5.    </a:t>
            </a:r>
            <a:r>
              <a:rPr lang="en-US" dirty="0" err="1" smtClean="0"/>
              <a:t>Leppanen</a:t>
            </a:r>
            <a:r>
              <a:rPr lang="en-US" dirty="0" smtClean="0"/>
              <a:t> T (2004) Computational Studies of Pattern Formation in Turing Systems.   </a:t>
            </a:r>
          </a:p>
          <a:p>
            <a:pPr algn="just"/>
            <a:r>
              <a:rPr lang="en-US" dirty="0" smtClean="0"/>
              <a:t>        (Helsinki University  of Technology).</a:t>
            </a:r>
          </a:p>
          <a:p>
            <a:pPr algn="just"/>
            <a:r>
              <a:rPr lang="en-US" dirty="0" smtClean="0"/>
              <a:t> 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1220</TotalTime>
  <Words>679</Words>
  <Application>Microsoft Office PowerPoint</Application>
  <PresentationFormat>On-screen Show (4:3)</PresentationFormat>
  <Paragraphs>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Corbel</vt:lpstr>
      <vt:lpstr>Wingdings</vt:lpstr>
      <vt:lpstr>Wingdings 2</vt:lpstr>
      <vt:lpstr>Wingdings 3</vt:lpstr>
      <vt:lpstr>Module</vt:lpstr>
      <vt:lpstr>The reaction-diffusion system: a mechanism for autonomous pattern formation in the animal skin</vt:lpstr>
      <vt:lpstr>Background</vt:lpstr>
      <vt:lpstr>Background</vt:lpstr>
      <vt:lpstr>Morphogenesis</vt:lpstr>
      <vt:lpstr>Example  Cont’d</vt:lpstr>
      <vt:lpstr>Background</vt:lpstr>
      <vt:lpstr>PowerPoint Presentation</vt:lpstr>
      <vt:lpstr>Background</vt:lpstr>
      <vt:lpstr>Background</vt:lpstr>
      <vt:lpstr>Morphogenesis</vt:lpstr>
      <vt:lpstr>MODEL</vt:lpstr>
      <vt:lpstr>MODEL</vt:lpstr>
      <vt:lpstr>MODEL</vt:lpstr>
      <vt:lpstr>Example : Vascular Mesenchymal Cells</vt:lpstr>
      <vt:lpstr>VMC’S</vt:lpstr>
      <vt:lpstr>Morphogenesis</vt:lpstr>
      <vt:lpstr>PowerPoint Presentation</vt:lpstr>
      <vt:lpstr>References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Biological Pattern Formation</dc:title>
  <dc:creator>Saumya Puthenveettil</dc:creator>
  <cp:lastModifiedBy>Saumya Puthenveettil</cp:lastModifiedBy>
  <cp:revision>121</cp:revision>
  <dcterms:created xsi:type="dcterms:W3CDTF">2012-03-23T01:24:19Z</dcterms:created>
  <dcterms:modified xsi:type="dcterms:W3CDTF">2019-09-29T01:55:53Z</dcterms:modified>
</cp:coreProperties>
</file>