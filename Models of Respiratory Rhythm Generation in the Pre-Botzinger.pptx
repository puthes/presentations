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6" r:id="rId9"/>
    <p:sldId id="265" r:id="rId10"/>
    <p:sldId id="267" r:id="rId11"/>
    <p:sldId id="268" r:id="rId12"/>
    <p:sldId id="269" r:id="rId13"/>
    <p:sldId id="271" r:id="rId14"/>
    <p:sldId id="270" r:id="rId15"/>
    <p:sldId id="272" r:id="rId16"/>
    <p:sldId id="273" r:id="rId17"/>
    <p:sldId id="274" r:id="rId18"/>
    <p:sldId id="275" r:id="rId19"/>
    <p:sldId id="264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9" autoAdjust="0"/>
    <p:restoredTop sz="94660"/>
  </p:normalViewPr>
  <p:slideViewPr>
    <p:cSldViewPr>
      <p:cViewPr varScale="1">
        <p:scale>
          <a:sx n="70" d="100"/>
          <a:sy n="70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3AA9422-7813-4815-A508-FF60174DD3A1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4F61FF9-4C53-496E-A81D-EAF3DE79A5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914400"/>
            <a:ext cx="7772400" cy="3581399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Models of Respiratory Rhythm Generation in the Pre-</a:t>
            </a:r>
            <a:r>
              <a:rPr lang="en-US" dirty="0" err="1" smtClean="0">
                <a:solidFill>
                  <a:schemeClr val="tx1"/>
                </a:solidFill>
              </a:rPr>
              <a:t>Botzinger</a:t>
            </a:r>
            <a:r>
              <a:rPr lang="en-US" dirty="0" smtClean="0">
                <a:solidFill>
                  <a:schemeClr val="tx1"/>
                </a:solidFill>
              </a:rPr>
              <a:t> Complex. I. Bursting Pacemaker Neurons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343400"/>
            <a:ext cx="6400800" cy="16002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Presented by: Saumya Puthenveettil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Pre-</a:t>
            </a:r>
            <a:r>
              <a:rPr lang="en-US" dirty="0" err="1" smtClean="0"/>
              <a:t>Botzinger</a:t>
            </a:r>
            <a:r>
              <a:rPr lang="en-US" dirty="0" smtClean="0"/>
              <a:t> Complex (</a:t>
            </a:r>
            <a:r>
              <a:rPr lang="en-US" dirty="0" err="1" smtClean="0"/>
              <a:t>preBotC</a:t>
            </a:r>
            <a:r>
              <a:rPr lang="en-US" dirty="0" smtClean="0"/>
              <a:t>) is a cluster of </a:t>
            </a:r>
            <a:r>
              <a:rPr lang="en-US" dirty="0" err="1" smtClean="0"/>
              <a:t>interneurons</a:t>
            </a:r>
            <a:r>
              <a:rPr lang="en-US" dirty="0" smtClean="0"/>
              <a:t> responsible for respiratory rhythm generation in mammals located in lower brain stem</a:t>
            </a:r>
          </a:p>
          <a:p>
            <a:r>
              <a:rPr lang="en-US" i="1" dirty="0" smtClean="0"/>
              <a:t>In vitro </a:t>
            </a:r>
            <a:r>
              <a:rPr lang="en-US" dirty="0" smtClean="0"/>
              <a:t>medulla slices are taken to demonstrate the pre-</a:t>
            </a:r>
            <a:r>
              <a:rPr lang="en-US" dirty="0" err="1" smtClean="0"/>
              <a:t>BotC</a:t>
            </a:r>
            <a:r>
              <a:rPr lang="en-US" dirty="0" smtClean="0"/>
              <a:t>  oscillatory bursting activity</a:t>
            </a:r>
          </a:p>
          <a:p>
            <a:r>
              <a:rPr lang="en-US" dirty="0" smtClean="0"/>
              <a:t>These isolated slices have allowed the study of rhythmic </a:t>
            </a:r>
            <a:r>
              <a:rPr lang="en-US" dirty="0" err="1" smtClean="0"/>
              <a:t>inspiratory</a:t>
            </a:r>
            <a:r>
              <a:rPr lang="en-US" dirty="0" smtClean="0"/>
              <a:t> activity</a:t>
            </a:r>
          </a:p>
          <a:p>
            <a:r>
              <a:rPr lang="en-US" i="1" dirty="0" smtClean="0"/>
              <a:t>A </a:t>
            </a:r>
            <a:r>
              <a:rPr lang="en-US" dirty="0" smtClean="0"/>
              <a:t>“hybrid pacemaker-network” model is used to analyze roles of processes in generating rhythm and controlling rhythm.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This paper models the rhythm and </a:t>
            </a:r>
            <a:r>
              <a:rPr lang="en-US" dirty="0" err="1" smtClean="0"/>
              <a:t>inspiratory</a:t>
            </a:r>
            <a:r>
              <a:rPr lang="en-US" dirty="0" smtClean="0"/>
              <a:t> bursts. </a:t>
            </a:r>
          </a:p>
          <a:p>
            <a:r>
              <a:rPr lang="en-US" dirty="0" smtClean="0"/>
              <a:t>Little data about the ionic/synaptic processes involved in pre-</a:t>
            </a:r>
            <a:r>
              <a:rPr lang="en-US" dirty="0" err="1" smtClean="0"/>
              <a:t>Botc</a:t>
            </a:r>
            <a:r>
              <a:rPr lang="en-US" dirty="0" smtClean="0"/>
              <a:t> pacemaker cells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Study how voltage affects the oscillations of the pre-</a:t>
            </a:r>
            <a:r>
              <a:rPr lang="en-US" dirty="0" err="1" smtClean="0"/>
              <a:t>Botc</a:t>
            </a:r>
            <a:r>
              <a:rPr lang="en-US" dirty="0" smtClean="0"/>
              <a:t> pacemaker neurons </a:t>
            </a:r>
            <a:r>
              <a:rPr lang="en-US" i="1" dirty="0" smtClean="0"/>
              <a:t>in vitro</a:t>
            </a:r>
          </a:p>
          <a:p>
            <a:r>
              <a:rPr lang="en-US" dirty="0" smtClean="0"/>
              <a:t>Generate a minimal model that generates spike frequencies similar to that of experimental recordings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 AND MATERIALS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8229600" cy="4175760"/>
          </a:xfrm>
        </p:spPr>
        <p:txBody>
          <a:bodyPr/>
          <a:lstStyle/>
          <a:p>
            <a:r>
              <a:rPr lang="en-US" dirty="0" smtClean="0"/>
              <a:t>Model I and Model II consists of burst initiation via activation of a persistent sodium current.</a:t>
            </a:r>
          </a:p>
          <a:p>
            <a:r>
              <a:rPr lang="en-US" dirty="0" smtClean="0"/>
              <a:t>However in Model I, burst termination occurs by the slow inactivation of sodium, whereas in Model II, burst termination occurs by a slowly activating potassium current.</a:t>
            </a:r>
          </a:p>
          <a:p>
            <a:r>
              <a:rPr lang="en-US" dirty="0" smtClean="0"/>
              <a:t>For this presentation, simulations were performed using MATLAB of Model I which is based on the Hodgkin Huxley equations.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 AND MATERIALS</a:t>
            </a:r>
            <a:endParaRPr lang="en-US" dirty="0"/>
          </a:p>
        </p:txBody>
      </p:sp>
      <p:pic>
        <p:nvPicPr>
          <p:cNvPr id="4" name="Content Placeholder 3" descr="formulas.bmp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676400" y="1315768"/>
            <a:ext cx="5928464" cy="4856432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9152" y="1219200"/>
            <a:ext cx="6905696" cy="493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6813" y="1295400"/>
            <a:ext cx="6810375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6369" y="1447800"/>
            <a:ext cx="6291262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2596" y="1295400"/>
            <a:ext cx="6458808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3923" y="1447800"/>
            <a:ext cx="6296154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1011" y="1323797"/>
            <a:ext cx="6301978" cy="5090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7300" y="1371600"/>
            <a:ext cx="6629400" cy="5096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1624" y="1295400"/>
            <a:ext cx="6200752" cy="49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9725" y="1296987"/>
            <a:ext cx="5924550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5770" y="1219200"/>
            <a:ext cx="6352461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6388" y="1735136"/>
            <a:ext cx="5991225" cy="470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3544" y="1730375"/>
            <a:ext cx="5776913" cy="4522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Increasing </a:t>
            </a:r>
            <a:r>
              <a:rPr lang="en-US" dirty="0" err="1" smtClean="0"/>
              <a:t>gNap</a:t>
            </a:r>
            <a:r>
              <a:rPr lang="en-US" dirty="0" smtClean="0"/>
              <a:t> increases burst frequency</a:t>
            </a:r>
          </a:p>
          <a:p>
            <a:r>
              <a:rPr lang="en-US" dirty="0" smtClean="0"/>
              <a:t>Burst frequency increases as membrane potential is depolarized until there is “tonic beating”.</a:t>
            </a:r>
          </a:p>
          <a:p>
            <a:r>
              <a:rPr lang="en-US" dirty="0" smtClean="0"/>
              <a:t>Results are consistent with experimental data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 </a:t>
            </a:r>
          </a:p>
          <a:p>
            <a:r>
              <a:rPr lang="en-US" sz="2000" dirty="0" err="1" smtClean="0"/>
              <a:t>Butera</a:t>
            </a:r>
            <a:r>
              <a:rPr lang="en-US" sz="2000" dirty="0" smtClean="0"/>
              <a:t>, R. J., Jr., </a:t>
            </a:r>
            <a:r>
              <a:rPr lang="en-US" sz="2000" dirty="0" err="1" smtClean="0"/>
              <a:t>Rinzel</a:t>
            </a:r>
            <a:r>
              <a:rPr lang="en-US" sz="2000" dirty="0" smtClean="0"/>
              <a:t>, J., &amp; Smith, J. C. (1999). Models of respiratory rhythm generation in the pre-</a:t>
            </a:r>
            <a:r>
              <a:rPr lang="en-US" sz="2000" dirty="0" err="1" smtClean="0"/>
              <a:t>Botzinger</a:t>
            </a:r>
            <a:r>
              <a:rPr lang="en-US" sz="2000" dirty="0" smtClean="0"/>
              <a:t> complex. I. Bursting pacemaker neurons. [In Vitro Research Support, U.S. </a:t>
            </a:r>
            <a:r>
              <a:rPr lang="en-US" sz="2000" dirty="0" err="1" smtClean="0"/>
              <a:t>Gov't</a:t>
            </a:r>
            <a:r>
              <a:rPr lang="en-US" sz="2000" dirty="0" smtClean="0"/>
              <a:t>, P.H.S.]. </a:t>
            </a:r>
            <a:r>
              <a:rPr lang="en-US" sz="2000" i="1" dirty="0" smtClean="0"/>
              <a:t>J </a:t>
            </a:r>
            <a:r>
              <a:rPr lang="en-US" sz="2000" i="1" dirty="0" err="1" smtClean="0"/>
              <a:t>Neurophysiol</a:t>
            </a:r>
            <a:r>
              <a:rPr lang="en-US" sz="2000" i="1" dirty="0" smtClean="0"/>
              <a:t>, 82</a:t>
            </a:r>
            <a:r>
              <a:rPr lang="en-US" sz="2000" dirty="0" smtClean="0"/>
              <a:t>(1), 382-397. </a:t>
            </a:r>
          </a:p>
          <a:p>
            <a:r>
              <a:rPr lang="en-US" sz="2000" dirty="0" smtClean="0"/>
              <a:t>Smith, J. C., </a:t>
            </a:r>
            <a:r>
              <a:rPr lang="en-US" sz="2000" dirty="0" err="1" smtClean="0"/>
              <a:t>Butera</a:t>
            </a:r>
            <a:r>
              <a:rPr lang="en-US" sz="2000" dirty="0" smtClean="0"/>
              <a:t>, R. J., </a:t>
            </a:r>
            <a:r>
              <a:rPr lang="en-US" sz="2000" dirty="0" err="1" smtClean="0"/>
              <a:t>Koshiya</a:t>
            </a:r>
            <a:r>
              <a:rPr lang="en-US" sz="2000" dirty="0" smtClean="0"/>
              <a:t>, N., Del Negro, C., Wilson, C. G., &amp; Johnson, S. M. (2000). Respiratory rhythm generation in neonatal and adult mammals: the hybrid pacemaker-network model. [Review]. </a:t>
            </a:r>
            <a:r>
              <a:rPr lang="en-US" sz="2000" i="1" dirty="0" err="1" smtClean="0"/>
              <a:t>Respir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Physiol</a:t>
            </a:r>
            <a:r>
              <a:rPr lang="en-US" sz="2000" i="1" dirty="0" smtClean="0"/>
              <a:t>, 122</a:t>
            </a:r>
            <a:r>
              <a:rPr lang="en-US" sz="2000" dirty="0" smtClean="0"/>
              <a:t>(2-3), 131-147. 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767</TotalTime>
  <Words>251</Words>
  <Application>Microsoft Office PowerPoint</Application>
  <PresentationFormat>On-screen Show (4:3)</PresentationFormat>
  <Paragraphs>39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Bookman Old Style</vt:lpstr>
      <vt:lpstr>Gill Sans MT</vt:lpstr>
      <vt:lpstr>Wingdings</vt:lpstr>
      <vt:lpstr>Wingdings 3</vt:lpstr>
      <vt:lpstr>Origin</vt:lpstr>
      <vt:lpstr>Models of Respiratory Rhythm Generation in the Pre-Botzinger Complex. I. Bursting Pacemaker Neurons </vt:lpstr>
      <vt:lpstr>INTRODUCTION</vt:lpstr>
      <vt:lpstr>INTRODUCTION cont’d</vt:lpstr>
      <vt:lpstr>AIM</vt:lpstr>
      <vt:lpstr>METHODS AND MATERIALS</vt:lpstr>
      <vt:lpstr>METHODS AND MATERIALS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CONCLUSION</vt:lpstr>
      <vt:lpstr>REFERENCES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Models of Respiratory Rhythm Generation in the Pre-Botzinger Complex. I. Bursting Pacemaker Neurons</dc:title>
  <dc:creator>Saumya Puthenveettil</dc:creator>
  <cp:lastModifiedBy>Saumya Puthenveettil</cp:lastModifiedBy>
  <cp:revision>79</cp:revision>
  <dcterms:created xsi:type="dcterms:W3CDTF">2011-11-30T06:32:08Z</dcterms:created>
  <dcterms:modified xsi:type="dcterms:W3CDTF">2019-09-28T07:04:09Z</dcterms:modified>
</cp:coreProperties>
</file>